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73" r:id="rId5"/>
    <p:sldId id="260" r:id="rId6"/>
    <p:sldId id="261" r:id="rId7"/>
    <p:sldId id="262" r:id="rId8"/>
    <p:sldId id="263" r:id="rId9"/>
    <p:sldId id="264" r:id="rId10"/>
    <p:sldId id="265" r:id="rId11"/>
    <p:sldId id="266" r:id="rId12"/>
    <p:sldId id="268" r:id="rId13"/>
    <p:sldId id="267" r:id="rId14"/>
    <p:sldId id="269" r:id="rId15"/>
    <p:sldId id="270" r:id="rId16"/>
    <p:sldId id="271" r:id="rId17"/>
    <p:sldId id="276" r:id="rId18"/>
    <p:sldId id="275" r:id="rId19"/>
    <p:sldId id="274"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4" d="100"/>
          <a:sy n="104" d="100"/>
        </p:scale>
        <p:origin x="21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16C510-D69E-3F3A-003A-49E7D691A22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7A78B18-2DDA-B07C-FE00-67A79364B8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B06E19D-5A0F-22F9-95B6-2DD6F52CD174}"/>
              </a:ext>
            </a:extLst>
          </p:cNvPr>
          <p:cNvSpPr>
            <a:spLocks noGrp="1"/>
          </p:cNvSpPr>
          <p:nvPr>
            <p:ph type="dt" sz="half" idx="10"/>
          </p:nvPr>
        </p:nvSpPr>
        <p:spPr/>
        <p:txBody>
          <a:bodyPr/>
          <a:lstStyle/>
          <a:p>
            <a:fld id="{8D8AB2C6-3410-4FAA-9A8A-0462377D32D4}" type="datetimeFigureOut">
              <a:rPr lang="zh-CN" altLang="en-US" smtClean="0"/>
              <a:t>2025/8/29</a:t>
            </a:fld>
            <a:endParaRPr lang="zh-CN" altLang="en-US"/>
          </a:p>
        </p:txBody>
      </p:sp>
      <p:sp>
        <p:nvSpPr>
          <p:cNvPr id="5" name="页脚占位符 4">
            <a:extLst>
              <a:ext uri="{FF2B5EF4-FFF2-40B4-BE49-F238E27FC236}">
                <a16:creationId xmlns:a16="http://schemas.microsoft.com/office/drawing/2014/main" id="{A593083A-8CDD-CF0B-4819-87B279974CA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F9DDBD3-FCE7-853B-F315-8CCFC9ECBF9E}"/>
              </a:ext>
            </a:extLst>
          </p:cNvPr>
          <p:cNvSpPr>
            <a:spLocks noGrp="1"/>
          </p:cNvSpPr>
          <p:nvPr>
            <p:ph type="sldNum" sz="quarter" idx="12"/>
          </p:nvPr>
        </p:nvSpPr>
        <p:spPr/>
        <p:txBody>
          <a:bodyPr/>
          <a:lstStyle/>
          <a:p>
            <a:fld id="{5AB82E1A-4436-42E0-871A-70C2F2AA5AB4}" type="slidenum">
              <a:rPr lang="zh-CN" altLang="en-US" smtClean="0"/>
              <a:t>‹#›</a:t>
            </a:fld>
            <a:endParaRPr lang="zh-CN" altLang="en-US"/>
          </a:p>
        </p:txBody>
      </p:sp>
    </p:spTree>
    <p:extLst>
      <p:ext uri="{BB962C8B-B14F-4D97-AF65-F5344CB8AC3E}">
        <p14:creationId xmlns:p14="http://schemas.microsoft.com/office/powerpoint/2010/main" val="1582595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50CA58-F676-CBBA-F899-4CD4D976635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8682861-326C-7FBC-0FFB-1786081030E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913D-746B-112E-223D-7CDBE51DBD36}"/>
              </a:ext>
            </a:extLst>
          </p:cNvPr>
          <p:cNvSpPr>
            <a:spLocks noGrp="1"/>
          </p:cNvSpPr>
          <p:nvPr>
            <p:ph type="dt" sz="half" idx="10"/>
          </p:nvPr>
        </p:nvSpPr>
        <p:spPr/>
        <p:txBody>
          <a:bodyPr/>
          <a:lstStyle/>
          <a:p>
            <a:fld id="{8D8AB2C6-3410-4FAA-9A8A-0462377D32D4}" type="datetimeFigureOut">
              <a:rPr lang="zh-CN" altLang="en-US" smtClean="0"/>
              <a:t>2025/8/29</a:t>
            </a:fld>
            <a:endParaRPr lang="zh-CN" altLang="en-US"/>
          </a:p>
        </p:txBody>
      </p:sp>
      <p:sp>
        <p:nvSpPr>
          <p:cNvPr id="5" name="页脚占位符 4">
            <a:extLst>
              <a:ext uri="{FF2B5EF4-FFF2-40B4-BE49-F238E27FC236}">
                <a16:creationId xmlns:a16="http://schemas.microsoft.com/office/drawing/2014/main" id="{2B50E8C1-60CE-1D87-BC95-7173FBA96AC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CE4C791-70F8-836C-FC1D-995334BDC849}"/>
              </a:ext>
            </a:extLst>
          </p:cNvPr>
          <p:cNvSpPr>
            <a:spLocks noGrp="1"/>
          </p:cNvSpPr>
          <p:nvPr>
            <p:ph type="sldNum" sz="quarter" idx="12"/>
          </p:nvPr>
        </p:nvSpPr>
        <p:spPr/>
        <p:txBody>
          <a:bodyPr/>
          <a:lstStyle/>
          <a:p>
            <a:fld id="{5AB82E1A-4436-42E0-871A-70C2F2AA5AB4}" type="slidenum">
              <a:rPr lang="zh-CN" altLang="en-US" smtClean="0"/>
              <a:t>‹#›</a:t>
            </a:fld>
            <a:endParaRPr lang="zh-CN" altLang="en-US"/>
          </a:p>
        </p:txBody>
      </p:sp>
    </p:spTree>
    <p:extLst>
      <p:ext uri="{BB962C8B-B14F-4D97-AF65-F5344CB8AC3E}">
        <p14:creationId xmlns:p14="http://schemas.microsoft.com/office/powerpoint/2010/main" val="3255583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58C30E-CA00-1FAD-B368-411BDCD2DE8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27938EE-5D56-C56F-1F89-056D33956C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7A7D405-D69B-DC92-2810-2F0E8DF7F86A}"/>
              </a:ext>
            </a:extLst>
          </p:cNvPr>
          <p:cNvSpPr>
            <a:spLocks noGrp="1"/>
          </p:cNvSpPr>
          <p:nvPr>
            <p:ph type="dt" sz="half" idx="10"/>
          </p:nvPr>
        </p:nvSpPr>
        <p:spPr/>
        <p:txBody>
          <a:bodyPr/>
          <a:lstStyle/>
          <a:p>
            <a:fld id="{8D8AB2C6-3410-4FAA-9A8A-0462377D32D4}" type="datetimeFigureOut">
              <a:rPr lang="zh-CN" altLang="en-US" smtClean="0"/>
              <a:t>2025/8/29</a:t>
            </a:fld>
            <a:endParaRPr lang="zh-CN" altLang="en-US"/>
          </a:p>
        </p:txBody>
      </p:sp>
      <p:sp>
        <p:nvSpPr>
          <p:cNvPr id="5" name="页脚占位符 4">
            <a:extLst>
              <a:ext uri="{FF2B5EF4-FFF2-40B4-BE49-F238E27FC236}">
                <a16:creationId xmlns:a16="http://schemas.microsoft.com/office/drawing/2014/main" id="{0DDC4B06-DB38-C54E-70C1-B8B7756BB54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1767C0A-8914-BBEE-0BD9-3A06E1251279}"/>
              </a:ext>
            </a:extLst>
          </p:cNvPr>
          <p:cNvSpPr>
            <a:spLocks noGrp="1"/>
          </p:cNvSpPr>
          <p:nvPr>
            <p:ph type="sldNum" sz="quarter" idx="12"/>
          </p:nvPr>
        </p:nvSpPr>
        <p:spPr/>
        <p:txBody>
          <a:bodyPr/>
          <a:lstStyle/>
          <a:p>
            <a:fld id="{5AB82E1A-4436-42E0-871A-70C2F2AA5AB4}" type="slidenum">
              <a:rPr lang="zh-CN" altLang="en-US" smtClean="0"/>
              <a:t>‹#›</a:t>
            </a:fld>
            <a:endParaRPr lang="zh-CN" altLang="en-US"/>
          </a:p>
        </p:txBody>
      </p:sp>
    </p:spTree>
    <p:extLst>
      <p:ext uri="{BB962C8B-B14F-4D97-AF65-F5344CB8AC3E}">
        <p14:creationId xmlns:p14="http://schemas.microsoft.com/office/powerpoint/2010/main" val="27450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6B2E9F-DFED-123A-C698-9BF8DB3A4D5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38569D2-02F6-7AD4-36DF-ADDE32311C3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EF09161-7385-DABC-C38E-A1C60DCF908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1057611-8820-C1B3-0122-302E20B513C7}"/>
              </a:ext>
            </a:extLst>
          </p:cNvPr>
          <p:cNvSpPr>
            <a:spLocks noGrp="1"/>
          </p:cNvSpPr>
          <p:nvPr>
            <p:ph type="dt" sz="half" idx="10"/>
          </p:nvPr>
        </p:nvSpPr>
        <p:spPr/>
        <p:txBody>
          <a:bodyPr/>
          <a:lstStyle/>
          <a:p>
            <a:fld id="{8D8AB2C6-3410-4FAA-9A8A-0462377D32D4}" type="datetimeFigureOut">
              <a:rPr lang="zh-CN" altLang="en-US" smtClean="0"/>
              <a:t>2025/8/29</a:t>
            </a:fld>
            <a:endParaRPr lang="zh-CN" altLang="en-US"/>
          </a:p>
        </p:txBody>
      </p:sp>
      <p:sp>
        <p:nvSpPr>
          <p:cNvPr id="6" name="页脚占位符 5">
            <a:extLst>
              <a:ext uri="{FF2B5EF4-FFF2-40B4-BE49-F238E27FC236}">
                <a16:creationId xmlns:a16="http://schemas.microsoft.com/office/drawing/2014/main" id="{85836DF3-68C8-5EFB-6FBF-E612C617C76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E9880D-78A3-36C4-41C0-796A92632DC1}"/>
              </a:ext>
            </a:extLst>
          </p:cNvPr>
          <p:cNvSpPr>
            <a:spLocks noGrp="1"/>
          </p:cNvSpPr>
          <p:nvPr>
            <p:ph type="sldNum" sz="quarter" idx="12"/>
          </p:nvPr>
        </p:nvSpPr>
        <p:spPr/>
        <p:txBody>
          <a:bodyPr/>
          <a:lstStyle/>
          <a:p>
            <a:fld id="{5AB82E1A-4436-42E0-871A-70C2F2AA5AB4}" type="slidenum">
              <a:rPr lang="zh-CN" altLang="en-US" smtClean="0"/>
              <a:t>‹#›</a:t>
            </a:fld>
            <a:endParaRPr lang="zh-CN" altLang="en-US"/>
          </a:p>
        </p:txBody>
      </p:sp>
    </p:spTree>
    <p:extLst>
      <p:ext uri="{BB962C8B-B14F-4D97-AF65-F5344CB8AC3E}">
        <p14:creationId xmlns:p14="http://schemas.microsoft.com/office/powerpoint/2010/main" val="3046259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5BDCBC-5821-3AD1-8D7D-FDEAD54BBCD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3530354-A9EC-937D-42AA-6AAF974700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4FE9DCB-171D-5A96-2F5E-822D8DBE1EE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FAFD0E-BBF8-FCFB-FAAD-D938C6EB92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732839F-961E-F202-EF0E-ECF5D435D98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3FDCE7C-645E-B248-B1E0-70EC14D01899}"/>
              </a:ext>
            </a:extLst>
          </p:cNvPr>
          <p:cNvSpPr>
            <a:spLocks noGrp="1"/>
          </p:cNvSpPr>
          <p:nvPr>
            <p:ph type="dt" sz="half" idx="10"/>
          </p:nvPr>
        </p:nvSpPr>
        <p:spPr/>
        <p:txBody>
          <a:bodyPr/>
          <a:lstStyle/>
          <a:p>
            <a:fld id="{8D8AB2C6-3410-4FAA-9A8A-0462377D32D4}" type="datetimeFigureOut">
              <a:rPr lang="zh-CN" altLang="en-US" smtClean="0"/>
              <a:t>2025/8/29</a:t>
            </a:fld>
            <a:endParaRPr lang="zh-CN" altLang="en-US"/>
          </a:p>
        </p:txBody>
      </p:sp>
      <p:sp>
        <p:nvSpPr>
          <p:cNvPr id="8" name="页脚占位符 7">
            <a:extLst>
              <a:ext uri="{FF2B5EF4-FFF2-40B4-BE49-F238E27FC236}">
                <a16:creationId xmlns:a16="http://schemas.microsoft.com/office/drawing/2014/main" id="{0A2B24D6-72B1-4DC0-A5BB-04913B491B9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1E0E16A-F8BC-B4DD-1AC5-4732D892567B}"/>
              </a:ext>
            </a:extLst>
          </p:cNvPr>
          <p:cNvSpPr>
            <a:spLocks noGrp="1"/>
          </p:cNvSpPr>
          <p:nvPr>
            <p:ph type="sldNum" sz="quarter" idx="12"/>
          </p:nvPr>
        </p:nvSpPr>
        <p:spPr/>
        <p:txBody>
          <a:bodyPr/>
          <a:lstStyle/>
          <a:p>
            <a:fld id="{5AB82E1A-4436-42E0-871A-70C2F2AA5AB4}" type="slidenum">
              <a:rPr lang="zh-CN" altLang="en-US" smtClean="0"/>
              <a:t>‹#›</a:t>
            </a:fld>
            <a:endParaRPr lang="zh-CN" altLang="en-US"/>
          </a:p>
        </p:txBody>
      </p:sp>
    </p:spTree>
    <p:extLst>
      <p:ext uri="{BB962C8B-B14F-4D97-AF65-F5344CB8AC3E}">
        <p14:creationId xmlns:p14="http://schemas.microsoft.com/office/powerpoint/2010/main" val="2825044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732C44-4CFB-D834-CD65-9D3B7F86C64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B300716-636F-D84C-DA52-7AFB5B7E204E}"/>
              </a:ext>
            </a:extLst>
          </p:cNvPr>
          <p:cNvSpPr>
            <a:spLocks noGrp="1"/>
          </p:cNvSpPr>
          <p:nvPr>
            <p:ph type="dt" sz="half" idx="10"/>
          </p:nvPr>
        </p:nvSpPr>
        <p:spPr/>
        <p:txBody>
          <a:bodyPr/>
          <a:lstStyle/>
          <a:p>
            <a:fld id="{8D8AB2C6-3410-4FAA-9A8A-0462377D32D4}" type="datetimeFigureOut">
              <a:rPr lang="zh-CN" altLang="en-US" smtClean="0"/>
              <a:t>2025/8/29</a:t>
            </a:fld>
            <a:endParaRPr lang="zh-CN" altLang="en-US"/>
          </a:p>
        </p:txBody>
      </p:sp>
      <p:sp>
        <p:nvSpPr>
          <p:cNvPr id="4" name="页脚占位符 3">
            <a:extLst>
              <a:ext uri="{FF2B5EF4-FFF2-40B4-BE49-F238E27FC236}">
                <a16:creationId xmlns:a16="http://schemas.microsoft.com/office/drawing/2014/main" id="{1032C349-27C6-7553-13A0-46813FFCF16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455125A-EFE4-B742-B4BB-EE69DEE590A1}"/>
              </a:ext>
            </a:extLst>
          </p:cNvPr>
          <p:cNvSpPr>
            <a:spLocks noGrp="1"/>
          </p:cNvSpPr>
          <p:nvPr>
            <p:ph type="sldNum" sz="quarter" idx="12"/>
          </p:nvPr>
        </p:nvSpPr>
        <p:spPr/>
        <p:txBody>
          <a:bodyPr/>
          <a:lstStyle/>
          <a:p>
            <a:fld id="{5AB82E1A-4436-42E0-871A-70C2F2AA5AB4}" type="slidenum">
              <a:rPr lang="zh-CN" altLang="en-US" smtClean="0"/>
              <a:t>‹#›</a:t>
            </a:fld>
            <a:endParaRPr lang="zh-CN" altLang="en-US"/>
          </a:p>
        </p:txBody>
      </p:sp>
    </p:spTree>
    <p:extLst>
      <p:ext uri="{BB962C8B-B14F-4D97-AF65-F5344CB8AC3E}">
        <p14:creationId xmlns:p14="http://schemas.microsoft.com/office/powerpoint/2010/main" val="3850208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1EB133E-EF66-DE4C-4E41-8C6C2A8559D9}"/>
              </a:ext>
            </a:extLst>
          </p:cNvPr>
          <p:cNvSpPr>
            <a:spLocks noGrp="1"/>
          </p:cNvSpPr>
          <p:nvPr>
            <p:ph type="dt" sz="half" idx="10"/>
          </p:nvPr>
        </p:nvSpPr>
        <p:spPr/>
        <p:txBody>
          <a:bodyPr/>
          <a:lstStyle/>
          <a:p>
            <a:fld id="{8D8AB2C6-3410-4FAA-9A8A-0462377D32D4}" type="datetimeFigureOut">
              <a:rPr lang="zh-CN" altLang="en-US" smtClean="0"/>
              <a:t>2025/8/29</a:t>
            </a:fld>
            <a:endParaRPr lang="zh-CN" altLang="en-US"/>
          </a:p>
        </p:txBody>
      </p:sp>
      <p:sp>
        <p:nvSpPr>
          <p:cNvPr id="3" name="页脚占位符 2">
            <a:extLst>
              <a:ext uri="{FF2B5EF4-FFF2-40B4-BE49-F238E27FC236}">
                <a16:creationId xmlns:a16="http://schemas.microsoft.com/office/drawing/2014/main" id="{ABA32E60-1A9E-2B99-B314-4E0DDC1436A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3C6CF76-5AA8-01BF-211B-49E0BAE66737}"/>
              </a:ext>
            </a:extLst>
          </p:cNvPr>
          <p:cNvSpPr>
            <a:spLocks noGrp="1"/>
          </p:cNvSpPr>
          <p:nvPr>
            <p:ph type="sldNum" sz="quarter" idx="12"/>
          </p:nvPr>
        </p:nvSpPr>
        <p:spPr/>
        <p:txBody>
          <a:bodyPr/>
          <a:lstStyle/>
          <a:p>
            <a:fld id="{5AB82E1A-4436-42E0-871A-70C2F2AA5AB4}" type="slidenum">
              <a:rPr lang="zh-CN" altLang="en-US" smtClean="0"/>
              <a:t>‹#›</a:t>
            </a:fld>
            <a:endParaRPr lang="zh-CN" altLang="en-US"/>
          </a:p>
        </p:txBody>
      </p:sp>
    </p:spTree>
    <p:extLst>
      <p:ext uri="{BB962C8B-B14F-4D97-AF65-F5344CB8AC3E}">
        <p14:creationId xmlns:p14="http://schemas.microsoft.com/office/powerpoint/2010/main" val="2729046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FBF70E-3B7F-11C6-A627-2C542E208E3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EB38C6A-EC69-AFAC-9DA1-EB178A02D3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158DBD4-F13A-E8F7-F8E9-5CCE5FB04C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45FFABF-2587-755E-DBE5-DC61AA1496D7}"/>
              </a:ext>
            </a:extLst>
          </p:cNvPr>
          <p:cNvSpPr>
            <a:spLocks noGrp="1"/>
          </p:cNvSpPr>
          <p:nvPr>
            <p:ph type="dt" sz="half" idx="10"/>
          </p:nvPr>
        </p:nvSpPr>
        <p:spPr/>
        <p:txBody>
          <a:bodyPr/>
          <a:lstStyle/>
          <a:p>
            <a:fld id="{8D8AB2C6-3410-4FAA-9A8A-0462377D32D4}" type="datetimeFigureOut">
              <a:rPr lang="zh-CN" altLang="en-US" smtClean="0"/>
              <a:t>2025/8/29</a:t>
            </a:fld>
            <a:endParaRPr lang="zh-CN" altLang="en-US"/>
          </a:p>
        </p:txBody>
      </p:sp>
      <p:sp>
        <p:nvSpPr>
          <p:cNvPr id="6" name="页脚占位符 5">
            <a:extLst>
              <a:ext uri="{FF2B5EF4-FFF2-40B4-BE49-F238E27FC236}">
                <a16:creationId xmlns:a16="http://schemas.microsoft.com/office/drawing/2014/main" id="{47C014AE-6B2D-912B-DB75-36E82DF20E4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61B8043-818A-6D3E-E0CB-B67FBEEBB51C}"/>
              </a:ext>
            </a:extLst>
          </p:cNvPr>
          <p:cNvSpPr>
            <a:spLocks noGrp="1"/>
          </p:cNvSpPr>
          <p:nvPr>
            <p:ph type="sldNum" sz="quarter" idx="12"/>
          </p:nvPr>
        </p:nvSpPr>
        <p:spPr/>
        <p:txBody>
          <a:bodyPr/>
          <a:lstStyle/>
          <a:p>
            <a:fld id="{5AB82E1A-4436-42E0-871A-70C2F2AA5AB4}" type="slidenum">
              <a:rPr lang="zh-CN" altLang="en-US" smtClean="0"/>
              <a:t>‹#›</a:t>
            </a:fld>
            <a:endParaRPr lang="zh-CN" altLang="en-US"/>
          </a:p>
        </p:txBody>
      </p:sp>
    </p:spTree>
    <p:extLst>
      <p:ext uri="{BB962C8B-B14F-4D97-AF65-F5344CB8AC3E}">
        <p14:creationId xmlns:p14="http://schemas.microsoft.com/office/powerpoint/2010/main" val="1763282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F5C31B-5BAD-5DA4-DAAA-3B6093C9D54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8094F0D-108F-EDB3-FE87-8B5A02CC81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8BD7321-9B04-12C8-3630-DD8D195E3C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F8C5425-1786-40AD-2287-9B0D185A642B}"/>
              </a:ext>
            </a:extLst>
          </p:cNvPr>
          <p:cNvSpPr>
            <a:spLocks noGrp="1"/>
          </p:cNvSpPr>
          <p:nvPr>
            <p:ph type="dt" sz="half" idx="10"/>
          </p:nvPr>
        </p:nvSpPr>
        <p:spPr/>
        <p:txBody>
          <a:bodyPr/>
          <a:lstStyle/>
          <a:p>
            <a:fld id="{8D8AB2C6-3410-4FAA-9A8A-0462377D32D4}" type="datetimeFigureOut">
              <a:rPr lang="zh-CN" altLang="en-US" smtClean="0"/>
              <a:t>2025/8/29</a:t>
            </a:fld>
            <a:endParaRPr lang="zh-CN" altLang="en-US"/>
          </a:p>
        </p:txBody>
      </p:sp>
      <p:sp>
        <p:nvSpPr>
          <p:cNvPr id="6" name="页脚占位符 5">
            <a:extLst>
              <a:ext uri="{FF2B5EF4-FFF2-40B4-BE49-F238E27FC236}">
                <a16:creationId xmlns:a16="http://schemas.microsoft.com/office/drawing/2014/main" id="{CEBC2264-D277-B7A1-1DCA-77E803D3013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5807565-3B67-E270-9883-451DB6BB314B}"/>
              </a:ext>
            </a:extLst>
          </p:cNvPr>
          <p:cNvSpPr>
            <a:spLocks noGrp="1"/>
          </p:cNvSpPr>
          <p:nvPr>
            <p:ph type="sldNum" sz="quarter" idx="12"/>
          </p:nvPr>
        </p:nvSpPr>
        <p:spPr/>
        <p:txBody>
          <a:bodyPr/>
          <a:lstStyle/>
          <a:p>
            <a:fld id="{5AB82E1A-4436-42E0-871A-70C2F2AA5AB4}" type="slidenum">
              <a:rPr lang="zh-CN" altLang="en-US" smtClean="0"/>
              <a:t>‹#›</a:t>
            </a:fld>
            <a:endParaRPr lang="zh-CN" altLang="en-US"/>
          </a:p>
        </p:txBody>
      </p:sp>
    </p:spTree>
    <p:extLst>
      <p:ext uri="{BB962C8B-B14F-4D97-AF65-F5344CB8AC3E}">
        <p14:creationId xmlns:p14="http://schemas.microsoft.com/office/powerpoint/2010/main" val="2188855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65980A-F0F1-C2C7-0C2C-004E3738E25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AFADF71-C2E6-4893-38CE-9171A8F7E78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1E0C594-A74F-6D45-0D08-03401F371ACC}"/>
              </a:ext>
            </a:extLst>
          </p:cNvPr>
          <p:cNvSpPr>
            <a:spLocks noGrp="1"/>
          </p:cNvSpPr>
          <p:nvPr>
            <p:ph type="dt" sz="half" idx="10"/>
          </p:nvPr>
        </p:nvSpPr>
        <p:spPr/>
        <p:txBody>
          <a:bodyPr/>
          <a:lstStyle/>
          <a:p>
            <a:fld id="{8D8AB2C6-3410-4FAA-9A8A-0462377D32D4}" type="datetimeFigureOut">
              <a:rPr lang="zh-CN" altLang="en-US" smtClean="0"/>
              <a:t>2025/8/29</a:t>
            </a:fld>
            <a:endParaRPr lang="zh-CN" altLang="en-US"/>
          </a:p>
        </p:txBody>
      </p:sp>
      <p:sp>
        <p:nvSpPr>
          <p:cNvPr id="5" name="页脚占位符 4">
            <a:extLst>
              <a:ext uri="{FF2B5EF4-FFF2-40B4-BE49-F238E27FC236}">
                <a16:creationId xmlns:a16="http://schemas.microsoft.com/office/drawing/2014/main" id="{C0D0C540-4EC7-1BFF-6387-8B570F381C6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FC344EB-1CAC-DC82-8D38-916D155B1F1A}"/>
              </a:ext>
            </a:extLst>
          </p:cNvPr>
          <p:cNvSpPr>
            <a:spLocks noGrp="1"/>
          </p:cNvSpPr>
          <p:nvPr>
            <p:ph type="sldNum" sz="quarter" idx="12"/>
          </p:nvPr>
        </p:nvSpPr>
        <p:spPr/>
        <p:txBody>
          <a:bodyPr/>
          <a:lstStyle/>
          <a:p>
            <a:fld id="{5AB82E1A-4436-42E0-871A-70C2F2AA5AB4}" type="slidenum">
              <a:rPr lang="zh-CN" altLang="en-US" smtClean="0"/>
              <a:t>‹#›</a:t>
            </a:fld>
            <a:endParaRPr lang="zh-CN" altLang="en-US"/>
          </a:p>
        </p:txBody>
      </p:sp>
    </p:spTree>
    <p:extLst>
      <p:ext uri="{BB962C8B-B14F-4D97-AF65-F5344CB8AC3E}">
        <p14:creationId xmlns:p14="http://schemas.microsoft.com/office/powerpoint/2010/main" val="2380440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0D29F7B-E063-D910-F655-5C63D61B0DD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C89C021-CFC0-4DDE-70B0-F9FC6C91947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8E38F4C-DAA7-8D2F-822D-213CD8DD1A96}"/>
              </a:ext>
            </a:extLst>
          </p:cNvPr>
          <p:cNvSpPr>
            <a:spLocks noGrp="1"/>
          </p:cNvSpPr>
          <p:nvPr>
            <p:ph type="dt" sz="half" idx="10"/>
          </p:nvPr>
        </p:nvSpPr>
        <p:spPr/>
        <p:txBody>
          <a:bodyPr/>
          <a:lstStyle/>
          <a:p>
            <a:fld id="{8D8AB2C6-3410-4FAA-9A8A-0462377D32D4}" type="datetimeFigureOut">
              <a:rPr lang="zh-CN" altLang="en-US" smtClean="0"/>
              <a:t>2025/8/29</a:t>
            </a:fld>
            <a:endParaRPr lang="zh-CN" altLang="en-US"/>
          </a:p>
        </p:txBody>
      </p:sp>
      <p:sp>
        <p:nvSpPr>
          <p:cNvPr id="5" name="页脚占位符 4">
            <a:extLst>
              <a:ext uri="{FF2B5EF4-FFF2-40B4-BE49-F238E27FC236}">
                <a16:creationId xmlns:a16="http://schemas.microsoft.com/office/drawing/2014/main" id="{658608B5-5318-C117-01D6-7E0B9580B77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C254389-5F5E-799B-2CBC-C58444B9F289}"/>
              </a:ext>
            </a:extLst>
          </p:cNvPr>
          <p:cNvSpPr>
            <a:spLocks noGrp="1"/>
          </p:cNvSpPr>
          <p:nvPr>
            <p:ph type="sldNum" sz="quarter" idx="12"/>
          </p:nvPr>
        </p:nvSpPr>
        <p:spPr/>
        <p:txBody>
          <a:bodyPr/>
          <a:lstStyle/>
          <a:p>
            <a:fld id="{5AB82E1A-4436-42E0-871A-70C2F2AA5AB4}" type="slidenum">
              <a:rPr lang="zh-CN" altLang="en-US" smtClean="0"/>
              <a:t>‹#›</a:t>
            </a:fld>
            <a:endParaRPr lang="zh-CN" altLang="en-US"/>
          </a:p>
        </p:txBody>
      </p:sp>
    </p:spTree>
    <p:extLst>
      <p:ext uri="{BB962C8B-B14F-4D97-AF65-F5344CB8AC3E}">
        <p14:creationId xmlns:p14="http://schemas.microsoft.com/office/powerpoint/2010/main" val="2923413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BF90751-8F98-584D-9F95-65F430B7F8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60C6906-EE8D-0325-4C63-4A9B06C361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922D65D-CFAD-9979-A088-E08F41171D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8AB2C6-3410-4FAA-9A8A-0462377D32D4}" type="datetimeFigureOut">
              <a:rPr lang="zh-CN" altLang="en-US" smtClean="0"/>
              <a:t>2025/8/29</a:t>
            </a:fld>
            <a:endParaRPr lang="zh-CN" altLang="en-US"/>
          </a:p>
        </p:txBody>
      </p:sp>
      <p:sp>
        <p:nvSpPr>
          <p:cNvPr id="5" name="页脚占位符 4">
            <a:extLst>
              <a:ext uri="{FF2B5EF4-FFF2-40B4-BE49-F238E27FC236}">
                <a16:creationId xmlns:a16="http://schemas.microsoft.com/office/drawing/2014/main" id="{D0789407-2DF9-9552-F37E-1574842A15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1DCD562-57BD-259A-ACCE-A87C8857B3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B82E1A-4436-42E0-871A-70C2F2AA5AB4}" type="slidenum">
              <a:rPr lang="zh-CN" altLang="en-US" smtClean="0"/>
              <a:t>‹#›</a:t>
            </a:fld>
            <a:endParaRPr lang="zh-CN" altLang="en-US"/>
          </a:p>
        </p:txBody>
      </p:sp>
    </p:spTree>
    <p:extLst>
      <p:ext uri="{BB962C8B-B14F-4D97-AF65-F5344CB8AC3E}">
        <p14:creationId xmlns:p14="http://schemas.microsoft.com/office/powerpoint/2010/main" val="37689598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0AAFEE-785E-35B3-07BF-59BA70721CA2}"/>
              </a:ext>
            </a:extLst>
          </p:cNvPr>
          <p:cNvSpPr>
            <a:spLocks noGrp="1"/>
          </p:cNvSpPr>
          <p:nvPr>
            <p:ph type="ctrTitle"/>
          </p:nvPr>
        </p:nvSpPr>
        <p:spPr/>
        <p:txBody>
          <a:bodyPr>
            <a:normAutofit/>
          </a:bodyPr>
          <a:lstStyle/>
          <a:p>
            <a:r>
              <a:rPr lang="en-US" altLang="zh-CN" sz="4400" dirty="0">
                <a:latin typeface="华文中宋" panose="02010600040101010101" pitchFamily="2" charset="-122"/>
                <a:ea typeface="华文中宋" panose="02010600040101010101" pitchFamily="2" charset="-122"/>
              </a:rPr>
              <a:t>DQN</a:t>
            </a:r>
            <a:r>
              <a:rPr lang="zh-CN" altLang="en-US" sz="4400" dirty="0">
                <a:latin typeface="华文中宋" panose="02010600040101010101" pitchFamily="2" charset="-122"/>
                <a:ea typeface="华文中宋" panose="02010600040101010101" pitchFamily="2" charset="-122"/>
              </a:rPr>
              <a:t>算法对交通状况突变的适应性对比分析</a:t>
            </a:r>
          </a:p>
        </p:txBody>
      </p:sp>
      <p:sp>
        <p:nvSpPr>
          <p:cNvPr id="3" name="副标题 2">
            <a:extLst>
              <a:ext uri="{FF2B5EF4-FFF2-40B4-BE49-F238E27FC236}">
                <a16:creationId xmlns:a16="http://schemas.microsoft.com/office/drawing/2014/main" id="{57B2F824-5603-1192-D825-CFE33885E063}"/>
              </a:ext>
            </a:extLst>
          </p:cNvPr>
          <p:cNvSpPr>
            <a:spLocks noGrp="1"/>
          </p:cNvSpPr>
          <p:nvPr>
            <p:ph type="subTitle" idx="1"/>
          </p:nvPr>
        </p:nvSpPr>
        <p:spPr>
          <a:xfrm>
            <a:off x="1524000" y="3957979"/>
            <a:ext cx="9144000" cy="1655762"/>
          </a:xfrm>
        </p:spPr>
        <p:txBody>
          <a:bodyPr/>
          <a:lstStyle/>
          <a:p>
            <a:r>
              <a:rPr lang="zh-CN" altLang="en-US" b="1" dirty="0">
                <a:latin typeface="黑体" panose="02010609060101010101" pitchFamily="49" charset="-122"/>
                <a:ea typeface="黑体" panose="02010609060101010101" pitchFamily="49" charset="-122"/>
              </a:rPr>
              <a:t>汇报人：巨嘉誉  汇报日期：</a:t>
            </a:r>
            <a:r>
              <a:rPr lang="en-US" altLang="zh-CN" b="1" dirty="0">
                <a:latin typeface="黑体" panose="02010609060101010101" pitchFamily="49" charset="-122"/>
                <a:ea typeface="黑体" panose="02010609060101010101" pitchFamily="49" charset="-122"/>
              </a:rPr>
              <a:t>2025.8.29</a:t>
            </a:r>
            <a:endParaRPr lang="zh-CN" altLang="en-US"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270708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272A0C-0B1E-2322-3B81-2209E5084943}"/>
              </a:ext>
            </a:extLst>
          </p:cNvPr>
          <p:cNvSpPr>
            <a:spLocks noGrp="1"/>
          </p:cNvSpPr>
          <p:nvPr>
            <p:ph type="title"/>
          </p:nvPr>
        </p:nvSpPr>
        <p:spPr>
          <a:xfrm>
            <a:off x="236782" y="217839"/>
            <a:ext cx="10515600" cy="1325563"/>
          </a:xfrm>
        </p:spPr>
        <p:txBody>
          <a:bodyPr/>
          <a:lstStyle/>
          <a:p>
            <a:r>
              <a:rPr lang="en-US" altLang="zh-CN" b="1" dirty="0">
                <a:latin typeface="Cambria" panose="02040503050406030204" pitchFamily="18" charset="0"/>
                <a:ea typeface="Cambria" panose="02040503050406030204" pitchFamily="18" charset="0"/>
              </a:rPr>
              <a:t>CONTENTS</a:t>
            </a:r>
            <a:endParaRPr lang="zh-CN" altLang="en-US" b="1" dirty="0">
              <a:latin typeface="Cambria" panose="02040503050406030204" pitchFamily="18" charset="0"/>
            </a:endParaRPr>
          </a:p>
        </p:txBody>
      </p:sp>
      <p:sp>
        <p:nvSpPr>
          <p:cNvPr id="3" name="内容占位符 2">
            <a:extLst>
              <a:ext uri="{FF2B5EF4-FFF2-40B4-BE49-F238E27FC236}">
                <a16:creationId xmlns:a16="http://schemas.microsoft.com/office/drawing/2014/main" id="{6FEC62B3-736B-7A17-2F77-5960FF6FA0CA}"/>
              </a:ext>
            </a:extLst>
          </p:cNvPr>
          <p:cNvSpPr>
            <a:spLocks noGrp="1"/>
          </p:cNvSpPr>
          <p:nvPr>
            <p:ph idx="1"/>
          </p:nvPr>
        </p:nvSpPr>
        <p:spPr>
          <a:xfrm>
            <a:off x="294572" y="1497407"/>
            <a:ext cx="11402384" cy="4995468"/>
          </a:xfrm>
          <a:solidFill>
            <a:schemeClr val="tx2">
              <a:lumMod val="40000"/>
              <a:lumOff val="60000"/>
            </a:schemeClr>
          </a:solidFill>
          <a:ln>
            <a:solidFill>
              <a:schemeClr val="tx2">
                <a:lumMod val="40000"/>
                <a:lumOff val="60000"/>
              </a:schemeClr>
            </a:solidFill>
          </a:ln>
        </p:spPr>
        <p:txBody>
          <a:bodyPr/>
          <a:lstStyle/>
          <a:p>
            <a:pPr>
              <a:lnSpc>
                <a:spcPct val="200000"/>
              </a:lnSpc>
            </a:pPr>
            <a:r>
              <a:rPr lang="en-US" altLang="zh-CN" dirty="0">
                <a:latin typeface="华文中宋" panose="02010600040101010101" pitchFamily="2" charset="-122"/>
                <a:ea typeface="华文中宋" panose="02010600040101010101" pitchFamily="2" charset="-122"/>
              </a:rPr>
              <a:t>1. </a:t>
            </a:r>
            <a:r>
              <a:rPr lang="zh-CN" altLang="en-US" dirty="0">
                <a:latin typeface="华文中宋" panose="02010600040101010101" pitchFamily="2" charset="-122"/>
                <a:ea typeface="华文中宋" panose="02010600040101010101" pitchFamily="2" charset="-122"/>
              </a:rPr>
              <a:t>研究背景和基本介绍</a:t>
            </a:r>
            <a:endParaRPr lang="en-US" altLang="zh-CN" dirty="0">
              <a:latin typeface="华文中宋" panose="02010600040101010101" pitchFamily="2" charset="-122"/>
              <a:ea typeface="华文中宋" panose="02010600040101010101" pitchFamily="2" charset="-122"/>
            </a:endParaRPr>
          </a:p>
          <a:p>
            <a:pPr>
              <a:lnSpc>
                <a:spcPct val="200000"/>
              </a:lnSpc>
            </a:pPr>
            <a:r>
              <a:rPr lang="en-US" altLang="zh-CN" dirty="0">
                <a:latin typeface="华文中宋" panose="02010600040101010101" pitchFamily="2" charset="-122"/>
                <a:ea typeface="华文中宋" panose="02010600040101010101" pitchFamily="2" charset="-122"/>
              </a:rPr>
              <a:t>2. </a:t>
            </a:r>
            <a:r>
              <a:rPr lang="zh-CN" altLang="en-US" dirty="0">
                <a:latin typeface="华文中宋" panose="02010600040101010101" pitchFamily="2" charset="-122"/>
                <a:ea typeface="华文中宋" panose="02010600040101010101" pitchFamily="2" charset="-122"/>
              </a:rPr>
              <a:t>研究方法论</a:t>
            </a:r>
            <a:endParaRPr lang="en-US" altLang="zh-CN" dirty="0">
              <a:latin typeface="华文中宋" panose="02010600040101010101" pitchFamily="2" charset="-122"/>
              <a:ea typeface="华文中宋" panose="02010600040101010101" pitchFamily="2" charset="-122"/>
            </a:endParaRPr>
          </a:p>
          <a:p>
            <a:pPr>
              <a:lnSpc>
                <a:spcPct val="200000"/>
              </a:lnSpc>
            </a:pPr>
            <a:r>
              <a:rPr lang="en-US" altLang="zh-CN" dirty="0">
                <a:latin typeface="华文中宋" panose="02010600040101010101" pitchFamily="2" charset="-122"/>
                <a:ea typeface="华文中宋" panose="02010600040101010101" pitchFamily="2" charset="-122"/>
              </a:rPr>
              <a:t>3. </a:t>
            </a:r>
            <a:r>
              <a:rPr lang="zh-CN" altLang="en-US" dirty="0">
                <a:latin typeface="华文中宋" panose="02010600040101010101" pitchFamily="2" charset="-122"/>
                <a:ea typeface="华文中宋" panose="02010600040101010101" pitchFamily="2" charset="-122"/>
              </a:rPr>
              <a:t>实验设计</a:t>
            </a:r>
            <a:endParaRPr lang="en-US" altLang="zh-CN" dirty="0">
              <a:latin typeface="华文中宋" panose="02010600040101010101" pitchFamily="2" charset="-122"/>
              <a:ea typeface="华文中宋" panose="02010600040101010101" pitchFamily="2" charset="-122"/>
            </a:endParaRPr>
          </a:p>
          <a:p>
            <a:pPr>
              <a:lnSpc>
                <a:spcPct val="200000"/>
              </a:lnSpc>
            </a:pPr>
            <a:r>
              <a:rPr lang="en-US" altLang="zh-CN" dirty="0">
                <a:latin typeface="华文中宋" panose="02010600040101010101" pitchFamily="2" charset="-122"/>
                <a:ea typeface="华文中宋" panose="02010600040101010101" pitchFamily="2" charset="-122"/>
              </a:rPr>
              <a:t>4.</a:t>
            </a:r>
            <a:r>
              <a:rPr lang="zh-CN" altLang="en-US" dirty="0">
                <a:latin typeface="华文中宋" panose="02010600040101010101" pitchFamily="2" charset="-122"/>
                <a:ea typeface="华文中宋" panose="02010600040101010101" pitchFamily="2" charset="-122"/>
              </a:rPr>
              <a:t> 结果分析</a:t>
            </a:r>
            <a:endParaRPr lang="en-US" altLang="zh-CN" dirty="0">
              <a:latin typeface="华文中宋" panose="02010600040101010101" pitchFamily="2" charset="-122"/>
              <a:ea typeface="华文中宋" panose="02010600040101010101" pitchFamily="2" charset="-122"/>
            </a:endParaRPr>
          </a:p>
          <a:p>
            <a:pPr>
              <a:lnSpc>
                <a:spcPct val="200000"/>
              </a:lnSpc>
            </a:pPr>
            <a:r>
              <a:rPr lang="en-US" altLang="zh-CN" dirty="0">
                <a:latin typeface="华文中宋" panose="02010600040101010101" pitchFamily="2" charset="-122"/>
                <a:ea typeface="华文中宋" panose="02010600040101010101" pitchFamily="2" charset="-122"/>
              </a:rPr>
              <a:t>5. </a:t>
            </a:r>
            <a:r>
              <a:rPr lang="zh-CN" altLang="en-US" dirty="0">
                <a:latin typeface="华文中宋" panose="02010600040101010101" pitchFamily="2" charset="-122"/>
                <a:ea typeface="华文中宋" panose="02010600040101010101" pitchFamily="2" charset="-122"/>
              </a:rPr>
              <a:t>不足与未来改进</a:t>
            </a:r>
          </a:p>
        </p:txBody>
      </p:sp>
    </p:spTree>
    <p:extLst>
      <p:ext uri="{BB962C8B-B14F-4D97-AF65-F5344CB8AC3E}">
        <p14:creationId xmlns:p14="http://schemas.microsoft.com/office/powerpoint/2010/main" val="1808066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7561E2-3AA2-0B97-E0F7-24B29B3C1C6C}"/>
              </a:ext>
            </a:extLst>
          </p:cNvPr>
          <p:cNvSpPr>
            <a:spLocks noGrp="1"/>
          </p:cNvSpPr>
          <p:nvPr>
            <p:ph type="title"/>
          </p:nvPr>
        </p:nvSpPr>
        <p:spPr>
          <a:xfrm>
            <a:off x="580448" y="168744"/>
            <a:ext cx="11147191" cy="604507"/>
          </a:xfrm>
          <a:solidFill>
            <a:schemeClr val="accent1">
              <a:lumMod val="75000"/>
            </a:schemeClr>
          </a:solidFill>
        </p:spPr>
        <p:txBody>
          <a:bodyPr>
            <a:noAutofit/>
          </a:bodyPr>
          <a:lstStyle/>
          <a:p>
            <a:r>
              <a:rPr lang="en-US" altLang="zh-CN" sz="3200" dirty="0">
                <a:solidFill>
                  <a:schemeClr val="bg1"/>
                </a:solidFill>
                <a:latin typeface="华文中宋" panose="02010600040101010101" pitchFamily="2" charset="-122"/>
                <a:ea typeface="华文中宋" panose="02010600040101010101" pitchFamily="2" charset="-122"/>
              </a:rPr>
              <a:t>1. </a:t>
            </a:r>
            <a:r>
              <a:rPr lang="zh-CN" altLang="en-US" sz="3200" dirty="0">
                <a:solidFill>
                  <a:schemeClr val="bg1"/>
                </a:solidFill>
                <a:latin typeface="华文中宋" panose="02010600040101010101" pitchFamily="2" charset="-122"/>
                <a:ea typeface="华文中宋" panose="02010600040101010101" pitchFamily="2" charset="-122"/>
              </a:rPr>
              <a:t>研究背景和基本介绍</a:t>
            </a:r>
          </a:p>
        </p:txBody>
      </p:sp>
      <p:sp>
        <p:nvSpPr>
          <p:cNvPr id="3" name="内容占位符 2">
            <a:extLst>
              <a:ext uri="{FF2B5EF4-FFF2-40B4-BE49-F238E27FC236}">
                <a16:creationId xmlns:a16="http://schemas.microsoft.com/office/drawing/2014/main" id="{20C25786-0711-1265-34E1-EDF6B1CFC3A3}"/>
              </a:ext>
            </a:extLst>
          </p:cNvPr>
          <p:cNvSpPr>
            <a:spLocks noGrp="1"/>
          </p:cNvSpPr>
          <p:nvPr>
            <p:ph idx="1"/>
          </p:nvPr>
        </p:nvSpPr>
        <p:spPr>
          <a:xfrm>
            <a:off x="580448" y="941909"/>
            <a:ext cx="11147192" cy="5550945"/>
          </a:xfrm>
          <a:solidFill>
            <a:schemeClr val="accent1">
              <a:lumMod val="40000"/>
              <a:lumOff val="60000"/>
            </a:schemeClr>
          </a:solidFill>
        </p:spPr>
        <p:txBody>
          <a:bodyPr/>
          <a:lstStyle/>
          <a:p>
            <a:endParaRPr lang="en-US" altLang="zh-CN" sz="2400" dirty="0"/>
          </a:p>
          <a:p>
            <a:endParaRPr lang="zh-CN" altLang="en-US" sz="2400" dirty="0"/>
          </a:p>
        </p:txBody>
      </p:sp>
      <p:sp>
        <p:nvSpPr>
          <p:cNvPr id="7" name="文本框 6">
            <a:extLst>
              <a:ext uri="{FF2B5EF4-FFF2-40B4-BE49-F238E27FC236}">
                <a16:creationId xmlns:a16="http://schemas.microsoft.com/office/drawing/2014/main" id="{EA8E8419-044A-CB6A-444E-6FCE0B9EB1BB}"/>
              </a:ext>
            </a:extLst>
          </p:cNvPr>
          <p:cNvSpPr txBox="1"/>
          <p:nvPr/>
        </p:nvSpPr>
        <p:spPr>
          <a:xfrm>
            <a:off x="958849" y="1200150"/>
            <a:ext cx="9707105" cy="5277663"/>
          </a:xfrm>
          <a:prstGeom prst="rect">
            <a:avLst/>
          </a:prstGeom>
          <a:noFill/>
        </p:spPr>
        <p:txBody>
          <a:bodyPr wrap="square" rtlCol="0">
            <a:spAutoFit/>
          </a:bodyPr>
          <a:lstStyle/>
          <a:p>
            <a:pPr>
              <a:lnSpc>
                <a:spcPct val="150000"/>
              </a:lnSpc>
            </a:pPr>
            <a:endParaRPr lang="en-US" altLang="zh-CN" sz="2000" b="1" dirty="0">
              <a:latin typeface="微软雅黑" panose="020B0503020204020204" pitchFamily="34" charset="-122"/>
              <a:ea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rPr>
              <a:t>研究背景：</a:t>
            </a:r>
            <a:endParaRPr lang="en-US" altLang="zh-CN" sz="2000" b="1"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l"/>
            </a:pPr>
            <a:r>
              <a:rPr lang="zh-CN" altLang="en-US" sz="2000" b="1" dirty="0"/>
              <a:t>深度强化学习（</a:t>
            </a:r>
            <a:r>
              <a:rPr lang="en-US" altLang="zh-CN" sz="2000" b="1" dirty="0"/>
              <a:t>Deep Reinforcement Learning, DRL</a:t>
            </a:r>
            <a:r>
              <a:rPr lang="zh-CN" altLang="en-US" sz="2000" b="1" dirty="0"/>
              <a:t>）</a:t>
            </a:r>
            <a:r>
              <a:rPr lang="zh-CN" altLang="en-US" sz="2000" dirty="0"/>
              <a:t> 为复杂动态环境下的交通信号优化提供了新的解决方案。</a:t>
            </a:r>
            <a:endParaRPr lang="en-US" altLang="zh-CN" sz="2000" dirty="0"/>
          </a:p>
          <a:p>
            <a:pPr marL="342900" indent="-342900">
              <a:buFont typeface="Wingdings" panose="05000000000000000000" pitchFamily="2" charset="2"/>
              <a:buChar char="l"/>
            </a:pPr>
            <a:r>
              <a:rPr lang="zh-CN" altLang="en-US" sz="2000" b="1" dirty="0"/>
              <a:t>深度 </a:t>
            </a:r>
            <a:r>
              <a:rPr lang="en-US" altLang="zh-CN" sz="2000" b="1" dirty="0"/>
              <a:t>Q </a:t>
            </a:r>
            <a:r>
              <a:rPr lang="zh-CN" altLang="en-US" sz="2000" b="1" dirty="0"/>
              <a:t>网络（</a:t>
            </a:r>
            <a:r>
              <a:rPr lang="en-US" altLang="zh-CN" sz="2000" b="1" dirty="0"/>
              <a:t>Deep Q-Network, DQN</a:t>
            </a:r>
            <a:r>
              <a:rPr lang="zh-CN" altLang="en-US" sz="2000" b="1" dirty="0"/>
              <a:t>）</a:t>
            </a:r>
            <a:r>
              <a:rPr lang="zh-CN" altLang="en-US" sz="2000" dirty="0"/>
              <a:t> 及其改进算法（如 </a:t>
            </a:r>
            <a:r>
              <a:rPr lang="en-US" altLang="zh-CN" sz="2000" dirty="0"/>
              <a:t>D3QN</a:t>
            </a:r>
            <a:r>
              <a:rPr lang="zh-CN" altLang="en-US" sz="2000" dirty="0"/>
              <a:t>、</a:t>
            </a:r>
            <a:r>
              <a:rPr lang="en-US" altLang="zh-CN" sz="2000" dirty="0"/>
              <a:t>PER-D3QN</a:t>
            </a:r>
            <a:r>
              <a:rPr lang="zh-CN" altLang="en-US" sz="2000" dirty="0"/>
              <a:t>），通过结合深度神经网络和 </a:t>
            </a:r>
            <a:r>
              <a:rPr lang="en-US" altLang="zh-CN" sz="2000" dirty="0"/>
              <a:t>Q-learning</a:t>
            </a:r>
            <a:r>
              <a:rPr lang="zh-CN" altLang="en-US" sz="2000" dirty="0"/>
              <a:t>，可以在无需交通先验知识的情况下自主学习最优控制策略。</a:t>
            </a:r>
            <a:endParaRPr lang="en-US" altLang="zh-CN" sz="2000" dirty="0"/>
          </a:p>
          <a:p>
            <a:pPr marL="342900" indent="-342900">
              <a:buFont typeface="Wingdings" panose="05000000000000000000" pitchFamily="2" charset="2"/>
              <a:buChar char="l"/>
            </a:pPr>
            <a:r>
              <a:rPr lang="en-US" altLang="zh-CN" sz="2000" b="1" dirty="0">
                <a:solidFill>
                  <a:srgbClr val="FF0000"/>
                </a:solidFill>
                <a:latin typeface="华文中宋" panose="02010600040101010101" pitchFamily="2" charset="-122"/>
                <a:ea typeface="华文中宋" panose="02010600040101010101" pitchFamily="2" charset="-122"/>
              </a:rPr>
              <a:t>[</a:t>
            </a:r>
            <a:r>
              <a:rPr lang="zh-CN" altLang="en-US" sz="2000" b="1" dirty="0">
                <a:solidFill>
                  <a:srgbClr val="FF0000"/>
                </a:solidFill>
                <a:latin typeface="华文中宋" panose="02010600040101010101" pitchFamily="2" charset="-122"/>
                <a:ea typeface="华文中宋" panose="02010600040101010101" pitchFamily="2" charset="-122"/>
              </a:rPr>
              <a:t>问题</a:t>
            </a:r>
            <a:r>
              <a:rPr lang="en-US" altLang="zh-CN" sz="2000" b="1" dirty="0">
                <a:solidFill>
                  <a:srgbClr val="FF0000"/>
                </a:solidFill>
                <a:latin typeface="华文中宋" panose="02010600040101010101" pitchFamily="2" charset="-122"/>
                <a:ea typeface="华文中宋" panose="02010600040101010101" pitchFamily="2" charset="-122"/>
              </a:rPr>
              <a:t>]</a:t>
            </a:r>
            <a:r>
              <a:rPr lang="zh-CN" altLang="en-US" sz="2000" b="1" dirty="0">
                <a:solidFill>
                  <a:srgbClr val="FF0000"/>
                </a:solidFill>
                <a:latin typeface="华文中宋" panose="02010600040101010101" pitchFamily="2" charset="-122"/>
                <a:ea typeface="华文中宋" panose="02010600040101010101" pitchFamily="2" charset="-122"/>
              </a:rPr>
              <a:t>：</a:t>
            </a:r>
            <a:r>
              <a:rPr lang="zh-CN" altLang="en-US" sz="2000" dirty="0"/>
              <a:t>现有研究多集中于</a:t>
            </a:r>
            <a:r>
              <a:rPr lang="zh-CN" altLang="en-US" sz="2000" b="1" dirty="0"/>
              <a:t>稳定环境</a:t>
            </a:r>
            <a:r>
              <a:rPr lang="zh-CN" altLang="en-US" sz="2000" dirty="0"/>
              <a:t>下的性能评估，而在</a:t>
            </a:r>
            <a:r>
              <a:rPr lang="zh-CN" altLang="en-US" sz="2000" b="1" dirty="0"/>
              <a:t>交通状况突变</a:t>
            </a:r>
            <a:r>
              <a:rPr lang="zh-CN" altLang="en-US" sz="2000" dirty="0"/>
              <a:t>（如道路封锁、流量突增、组合扰动）下，算法的</a:t>
            </a:r>
            <a:r>
              <a:rPr lang="zh-CN" altLang="en-US" sz="2000" b="1" dirty="0"/>
              <a:t>适应性和鲁棒性</a:t>
            </a:r>
            <a:r>
              <a:rPr lang="zh-CN" altLang="en-US" sz="2000" dirty="0"/>
              <a:t>仍缺乏系统性分析。</a:t>
            </a:r>
          </a:p>
          <a:p>
            <a:pPr>
              <a:lnSpc>
                <a:spcPct val="150000"/>
              </a:lnSpc>
            </a:pPr>
            <a:r>
              <a:rPr lang="zh-CN" altLang="en-US" sz="2000" b="1" dirty="0">
                <a:latin typeface="微软雅黑" panose="020B0503020204020204" pitchFamily="34" charset="-122"/>
                <a:ea typeface="微软雅黑" panose="020B0503020204020204" pitchFamily="34" charset="-122"/>
              </a:rPr>
              <a:t>基本内容介绍：</a:t>
            </a:r>
            <a:endParaRPr lang="en-US" altLang="zh-CN" sz="2000" b="1"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ü"/>
            </a:pPr>
            <a:r>
              <a:rPr lang="zh-CN" altLang="en-US" sz="2000" dirty="0"/>
              <a:t>构建基于 </a:t>
            </a:r>
            <a:r>
              <a:rPr lang="en-US" altLang="zh-CN" sz="2000" b="1" dirty="0"/>
              <a:t>SUMO </a:t>
            </a:r>
            <a:r>
              <a:rPr lang="zh-CN" altLang="en-US" sz="2000" b="1" dirty="0"/>
              <a:t>仿真平台</a:t>
            </a:r>
            <a:r>
              <a:rPr lang="zh-CN" altLang="en-US" sz="2000" dirty="0"/>
              <a:t> 的交通路口模型；</a:t>
            </a:r>
          </a:p>
          <a:p>
            <a:pPr marL="342900" indent="-342900">
              <a:buFont typeface="Wingdings" panose="05000000000000000000" pitchFamily="2" charset="2"/>
              <a:buChar char="ü"/>
            </a:pPr>
            <a:r>
              <a:rPr lang="zh-CN" altLang="en-US" sz="2000" dirty="0"/>
              <a:t>对比 </a:t>
            </a:r>
            <a:r>
              <a:rPr lang="en-US" altLang="zh-CN" sz="2000" dirty="0"/>
              <a:t>DQN </a:t>
            </a:r>
            <a:r>
              <a:rPr lang="zh-CN" altLang="en-US" sz="2000" dirty="0"/>
              <a:t>及其改进算法在 </a:t>
            </a:r>
            <a:r>
              <a:rPr lang="zh-CN" altLang="en-US" sz="2000" b="1" dirty="0"/>
              <a:t>交通突变场景</a:t>
            </a:r>
            <a:r>
              <a:rPr lang="zh-CN" altLang="en-US" sz="2000" dirty="0"/>
              <a:t> 下的表现；</a:t>
            </a:r>
          </a:p>
          <a:p>
            <a:pPr marL="342900" indent="-342900">
              <a:buFont typeface="Wingdings" panose="05000000000000000000" pitchFamily="2" charset="2"/>
              <a:buChar char="ü"/>
            </a:pPr>
            <a:r>
              <a:rPr lang="zh-CN" altLang="en-US" sz="2000" dirty="0"/>
              <a:t>探讨不同算法在 </a:t>
            </a:r>
            <a:r>
              <a:rPr lang="zh-CN" altLang="en-US" sz="2000" b="1" dirty="0"/>
              <a:t>收敛速度、累计奖励、队列长度与延迟</a:t>
            </a:r>
            <a:r>
              <a:rPr lang="zh-CN" altLang="en-US" sz="2000" dirty="0"/>
              <a:t> 等指标上的适应性差异。</a:t>
            </a: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zh-CN" altLang="en-US" sz="2000" dirty="0"/>
          </a:p>
        </p:txBody>
      </p:sp>
    </p:spTree>
    <p:extLst>
      <p:ext uri="{BB962C8B-B14F-4D97-AF65-F5344CB8AC3E}">
        <p14:creationId xmlns:p14="http://schemas.microsoft.com/office/powerpoint/2010/main" val="739087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14B53-69E7-FAFD-91B1-B8A39E4F0C1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E98511E-1B55-2F17-7DC2-ECDD50FCCDFD}"/>
              </a:ext>
            </a:extLst>
          </p:cNvPr>
          <p:cNvSpPr>
            <a:spLocks noGrp="1"/>
          </p:cNvSpPr>
          <p:nvPr>
            <p:ph type="title"/>
          </p:nvPr>
        </p:nvSpPr>
        <p:spPr>
          <a:xfrm>
            <a:off x="580448" y="168744"/>
            <a:ext cx="11147191" cy="604507"/>
          </a:xfrm>
          <a:solidFill>
            <a:schemeClr val="accent1">
              <a:lumMod val="75000"/>
            </a:schemeClr>
          </a:solidFill>
        </p:spPr>
        <p:txBody>
          <a:bodyPr>
            <a:noAutofit/>
          </a:bodyPr>
          <a:lstStyle/>
          <a:p>
            <a:r>
              <a:rPr lang="en-US" altLang="zh-CN" sz="3200" dirty="0">
                <a:solidFill>
                  <a:schemeClr val="bg1"/>
                </a:solidFill>
                <a:latin typeface="华文中宋" panose="02010600040101010101" pitchFamily="2" charset="-122"/>
                <a:ea typeface="华文中宋" panose="02010600040101010101" pitchFamily="2" charset="-122"/>
              </a:rPr>
              <a:t>2. </a:t>
            </a:r>
            <a:r>
              <a:rPr lang="zh-CN" altLang="en-US" sz="3200" dirty="0">
                <a:solidFill>
                  <a:schemeClr val="bg1"/>
                </a:solidFill>
                <a:latin typeface="华文中宋" panose="02010600040101010101" pitchFamily="2" charset="-122"/>
                <a:ea typeface="华文中宋" panose="02010600040101010101" pitchFamily="2" charset="-122"/>
              </a:rPr>
              <a:t>研究方法论</a:t>
            </a:r>
          </a:p>
        </p:txBody>
      </p:sp>
      <p:sp>
        <p:nvSpPr>
          <p:cNvPr id="3" name="内容占位符 2">
            <a:extLst>
              <a:ext uri="{FF2B5EF4-FFF2-40B4-BE49-F238E27FC236}">
                <a16:creationId xmlns:a16="http://schemas.microsoft.com/office/drawing/2014/main" id="{65EE0547-4A72-BBF1-4DB1-D4B1EE5C252D}"/>
              </a:ext>
            </a:extLst>
          </p:cNvPr>
          <p:cNvSpPr>
            <a:spLocks noGrp="1"/>
          </p:cNvSpPr>
          <p:nvPr>
            <p:ph idx="1"/>
          </p:nvPr>
        </p:nvSpPr>
        <p:spPr>
          <a:xfrm>
            <a:off x="580448" y="941909"/>
            <a:ext cx="11147192" cy="5550945"/>
          </a:xfrm>
          <a:solidFill>
            <a:schemeClr val="accent1">
              <a:lumMod val="40000"/>
              <a:lumOff val="60000"/>
            </a:schemeClr>
          </a:solidFill>
        </p:spPr>
        <p:txBody>
          <a:bodyPr/>
          <a:lstStyle/>
          <a:p>
            <a:endParaRPr lang="en-US" altLang="zh-CN" sz="2400" dirty="0"/>
          </a:p>
          <a:p>
            <a:endParaRPr lang="zh-CN" altLang="en-US" sz="2400" dirty="0"/>
          </a:p>
        </p:txBody>
      </p:sp>
      <p:pic>
        <p:nvPicPr>
          <p:cNvPr id="4" name="图片 3">
            <a:extLst>
              <a:ext uri="{FF2B5EF4-FFF2-40B4-BE49-F238E27FC236}">
                <a16:creationId xmlns:a16="http://schemas.microsoft.com/office/drawing/2014/main" id="{D9A3E0AC-A8F7-AA27-A9FC-A984B50829E5}"/>
              </a:ext>
            </a:extLst>
          </p:cNvPr>
          <p:cNvPicPr>
            <a:picLocks noChangeAspect="1"/>
          </p:cNvPicPr>
          <p:nvPr/>
        </p:nvPicPr>
        <p:blipFill>
          <a:blip r:embed="rId2"/>
          <a:stretch>
            <a:fillRect/>
          </a:stretch>
        </p:blipFill>
        <p:spPr>
          <a:xfrm>
            <a:off x="6889750" y="1018694"/>
            <a:ext cx="3371850" cy="2699939"/>
          </a:xfrm>
          <a:prstGeom prst="rect">
            <a:avLst/>
          </a:prstGeom>
        </p:spPr>
      </p:pic>
      <p:pic>
        <p:nvPicPr>
          <p:cNvPr id="6" name="图片 5">
            <a:extLst>
              <a:ext uri="{FF2B5EF4-FFF2-40B4-BE49-F238E27FC236}">
                <a16:creationId xmlns:a16="http://schemas.microsoft.com/office/drawing/2014/main" id="{944635E5-3950-DB68-FB54-B344740AFD9B}"/>
              </a:ext>
            </a:extLst>
          </p:cNvPr>
          <p:cNvPicPr>
            <a:picLocks noChangeAspect="1"/>
          </p:cNvPicPr>
          <p:nvPr/>
        </p:nvPicPr>
        <p:blipFill>
          <a:blip r:embed="rId3"/>
          <a:stretch>
            <a:fillRect/>
          </a:stretch>
        </p:blipFill>
        <p:spPr>
          <a:xfrm>
            <a:off x="6182302" y="3717381"/>
            <a:ext cx="4791120" cy="3025831"/>
          </a:xfrm>
          <a:prstGeom prst="rect">
            <a:avLst/>
          </a:prstGeom>
        </p:spPr>
      </p:pic>
      <p:sp>
        <p:nvSpPr>
          <p:cNvPr id="7" name="文本框 6">
            <a:extLst>
              <a:ext uri="{FF2B5EF4-FFF2-40B4-BE49-F238E27FC236}">
                <a16:creationId xmlns:a16="http://schemas.microsoft.com/office/drawing/2014/main" id="{15AFAD77-975B-1CD7-D290-28CC9D203344}"/>
              </a:ext>
            </a:extLst>
          </p:cNvPr>
          <p:cNvSpPr txBox="1"/>
          <p:nvPr/>
        </p:nvSpPr>
        <p:spPr>
          <a:xfrm>
            <a:off x="958849" y="1200150"/>
            <a:ext cx="5050849" cy="5123775"/>
          </a:xfrm>
          <a:prstGeom prst="rect">
            <a:avLst/>
          </a:prstGeom>
          <a:noFill/>
        </p:spPr>
        <p:txBody>
          <a:bodyPr wrap="square" rtlCol="0">
            <a:spAutoFit/>
          </a:bodyPr>
          <a:lstStyle/>
          <a:p>
            <a:pPr>
              <a:lnSpc>
                <a:spcPct val="150000"/>
              </a:lnSpc>
            </a:pPr>
            <a:r>
              <a:rPr lang="en-US" altLang="zh-CN" sz="2000" b="1" dirty="0">
                <a:latin typeface="微软雅黑" panose="020B0503020204020204" pitchFamily="34" charset="-122"/>
                <a:ea typeface="微软雅黑" panose="020B0503020204020204" pitchFamily="34" charset="-122"/>
              </a:rPr>
              <a:t>2.1</a:t>
            </a:r>
            <a:r>
              <a:rPr lang="zh-CN" altLang="en-US" sz="2000" b="1" dirty="0">
                <a:latin typeface="微软雅黑" panose="020B0503020204020204" pitchFamily="34" charset="-122"/>
                <a:ea typeface="微软雅黑" panose="020B0503020204020204" pitchFamily="34" charset="-122"/>
              </a:rPr>
              <a:t> 仿真模型搭建</a:t>
            </a:r>
            <a:endParaRPr lang="en-US" altLang="zh-CN" sz="20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路口模型：路口模型利用</a:t>
            </a:r>
            <a:r>
              <a:rPr lang="en-US" altLang="zh-CN" sz="2000" dirty="0">
                <a:latin typeface="微软雅黑" panose="020B0503020204020204" pitchFamily="34" charset="-122"/>
                <a:ea typeface="微软雅黑" panose="020B0503020204020204" pitchFamily="34" charset="-122"/>
              </a:rPr>
              <a:t>SUMO</a:t>
            </a:r>
            <a:r>
              <a:rPr lang="zh-CN" altLang="en-US" sz="2000" dirty="0">
                <a:latin typeface="微软雅黑" panose="020B0503020204020204" pitchFamily="34" charset="-122"/>
                <a:ea typeface="微软雅黑" panose="020B0503020204020204" pitchFamily="34" charset="-122"/>
              </a:rPr>
              <a:t>仿真搭建，由</a:t>
            </a:r>
            <a:r>
              <a:rPr lang="en-US" altLang="zh-CN" sz="2000" dirty="0">
                <a:latin typeface="微软雅黑" panose="020B0503020204020204" pitchFamily="34" charset="-122"/>
                <a:ea typeface="微软雅黑" panose="020B0503020204020204" pitchFamily="34" charset="-122"/>
              </a:rPr>
              <a:t>python</a:t>
            </a:r>
            <a:r>
              <a:rPr lang="zh-CN" altLang="en-US" sz="2000" dirty="0">
                <a:latin typeface="微软雅黑" panose="020B0503020204020204" pitchFamily="34" charset="-122"/>
                <a:ea typeface="微软雅黑" panose="020B0503020204020204" pitchFamily="34" charset="-122"/>
              </a:rPr>
              <a:t>接口进行仿真控制。</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路口模型分为东南西北四个方向，每个方向由</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条车道，</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条直行</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右转，</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条左转</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车辆数据记录：每个方向分为两组车道，每一单元记录直行或左转的数量和等待时间，采用</a:t>
            </a:r>
            <a:r>
              <a:rPr lang="en-US" altLang="zh-CN" sz="2000" dirty="0">
                <a:latin typeface="微软雅黑" panose="020B0503020204020204" pitchFamily="34" charset="-122"/>
                <a:ea typeface="微软雅黑" panose="020B0503020204020204" pitchFamily="34" charset="-122"/>
              </a:rPr>
              <a:t>z-score</a:t>
            </a:r>
            <a:r>
              <a:rPr lang="zh-CN" altLang="en-US" sz="2000" dirty="0">
                <a:latin typeface="微软雅黑" panose="020B0503020204020204" pitchFamily="34" charset="-122"/>
                <a:ea typeface="微软雅黑" panose="020B0503020204020204" pitchFamily="34" charset="-122"/>
              </a:rPr>
              <a:t>归一化，最终产生一个</a:t>
            </a:r>
            <a:r>
              <a:rPr lang="en-US" altLang="zh-CN" sz="2000" dirty="0">
                <a:latin typeface="微软雅黑" panose="020B0503020204020204" pitchFamily="34" charset="-122"/>
                <a:ea typeface="微软雅黑" panose="020B0503020204020204" pitchFamily="34" charset="-122"/>
              </a:rPr>
              <a:t>80</a:t>
            </a:r>
            <a:r>
              <a:rPr lang="zh-CN" altLang="en-US" sz="2000" dirty="0">
                <a:latin typeface="微软雅黑" panose="020B0503020204020204" pitchFamily="34" charset="-122"/>
                <a:ea typeface="微软雅黑" panose="020B0503020204020204" pitchFamily="34" charset="-122"/>
              </a:rPr>
              <a:t>维的特征向量。</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p>
        </p:txBody>
      </p:sp>
    </p:spTree>
    <p:extLst>
      <p:ext uri="{BB962C8B-B14F-4D97-AF65-F5344CB8AC3E}">
        <p14:creationId xmlns:p14="http://schemas.microsoft.com/office/powerpoint/2010/main" val="3775297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18DB9-5385-DC2C-49B0-CD5DADBCB61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880387C-1857-9B50-ABCF-AF48EE5D4FE3}"/>
              </a:ext>
            </a:extLst>
          </p:cNvPr>
          <p:cNvSpPr>
            <a:spLocks noGrp="1"/>
          </p:cNvSpPr>
          <p:nvPr>
            <p:ph type="title"/>
          </p:nvPr>
        </p:nvSpPr>
        <p:spPr>
          <a:xfrm>
            <a:off x="580448" y="168744"/>
            <a:ext cx="11147191" cy="604507"/>
          </a:xfrm>
          <a:solidFill>
            <a:schemeClr val="accent1">
              <a:lumMod val="75000"/>
            </a:schemeClr>
          </a:solidFill>
        </p:spPr>
        <p:txBody>
          <a:bodyPr>
            <a:noAutofit/>
          </a:bodyPr>
          <a:lstStyle/>
          <a:p>
            <a:r>
              <a:rPr lang="en-US" altLang="zh-CN" sz="3200" dirty="0">
                <a:solidFill>
                  <a:schemeClr val="bg1"/>
                </a:solidFill>
                <a:latin typeface="华文中宋" panose="02010600040101010101" pitchFamily="2" charset="-122"/>
                <a:ea typeface="华文中宋" panose="02010600040101010101" pitchFamily="2" charset="-122"/>
              </a:rPr>
              <a:t>2. </a:t>
            </a:r>
            <a:r>
              <a:rPr lang="zh-CN" altLang="en-US" sz="3200" dirty="0">
                <a:solidFill>
                  <a:schemeClr val="bg1"/>
                </a:solidFill>
                <a:latin typeface="华文中宋" panose="02010600040101010101" pitchFamily="2" charset="-122"/>
                <a:ea typeface="华文中宋" panose="02010600040101010101" pitchFamily="2" charset="-122"/>
              </a:rPr>
              <a:t>研究方法论</a:t>
            </a:r>
          </a:p>
        </p:txBody>
      </p:sp>
      <p:sp>
        <p:nvSpPr>
          <p:cNvPr id="3" name="内容占位符 2">
            <a:extLst>
              <a:ext uri="{FF2B5EF4-FFF2-40B4-BE49-F238E27FC236}">
                <a16:creationId xmlns:a16="http://schemas.microsoft.com/office/drawing/2014/main" id="{B6E8F062-5851-FC5D-2514-4A4CF5ABFCD2}"/>
              </a:ext>
            </a:extLst>
          </p:cNvPr>
          <p:cNvSpPr>
            <a:spLocks noGrp="1"/>
          </p:cNvSpPr>
          <p:nvPr>
            <p:ph idx="1"/>
          </p:nvPr>
        </p:nvSpPr>
        <p:spPr>
          <a:xfrm>
            <a:off x="580448" y="941909"/>
            <a:ext cx="11147192" cy="5550945"/>
          </a:xfrm>
          <a:solidFill>
            <a:schemeClr val="accent1">
              <a:lumMod val="40000"/>
              <a:lumOff val="60000"/>
            </a:schemeClr>
          </a:solidFill>
        </p:spPr>
        <p:txBody>
          <a:bodyPr/>
          <a:lstStyle/>
          <a:p>
            <a:endParaRPr lang="en-US" altLang="zh-CN" sz="2400" dirty="0"/>
          </a:p>
          <a:p>
            <a:endParaRPr lang="zh-CN" altLang="en-US" sz="2400" dirty="0"/>
          </a:p>
        </p:txBody>
      </p:sp>
      <p:sp>
        <p:nvSpPr>
          <p:cNvPr id="7" name="文本框 6">
            <a:extLst>
              <a:ext uri="{FF2B5EF4-FFF2-40B4-BE49-F238E27FC236}">
                <a16:creationId xmlns:a16="http://schemas.microsoft.com/office/drawing/2014/main" id="{D1C69CE7-D045-F843-0373-51670A0B7C91}"/>
              </a:ext>
            </a:extLst>
          </p:cNvPr>
          <p:cNvSpPr txBox="1"/>
          <p:nvPr/>
        </p:nvSpPr>
        <p:spPr>
          <a:xfrm>
            <a:off x="958849" y="1200150"/>
            <a:ext cx="9550401" cy="1892121"/>
          </a:xfrm>
          <a:prstGeom prst="rect">
            <a:avLst/>
          </a:prstGeom>
          <a:noFill/>
        </p:spPr>
        <p:txBody>
          <a:bodyPr wrap="square" rtlCol="0">
            <a:spAutoFit/>
          </a:bodyPr>
          <a:lstStyle/>
          <a:p>
            <a:pPr>
              <a:lnSpc>
                <a:spcPct val="150000"/>
              </a:lnSpc>
            </a:pPr>
            <a:r>
              <a:rPr lang="en-US" altLang="zh-CN" sz="2000" b="1" dirty="0">
                <a:latin typeface="微软雅黑" panose="020B0503020204020204" pitchFamily="34" charset="-122"/>
                <a:ea typeface="微软雅黑" panose="020B0503020204020204" pitchFamily="34" charset="-122"/>
              </a:rPr>
              <a:t>2.2</a:t>
            </a:r>
            <a:r>
              <a:rPr lang="zh-CN" altLang="en-US" sz="2000" b="1" dirty="0">
                <a:latin typeface="微软雅黑" panose="020B0503020204020204" pitchFamily="34" charset="-122"/>
                <a:ea typeface="微软雅黑" panose="020B0503020204020204" pitchFamily="34" charset="-122"/>
              </a:rPr>
              <a:t> 动作选择</a:t>
            </a: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zh-CN" altLang="en-US" sz="2000" dirty="0"/>
          </a:p>
        </p:txBody>
      </p:sp>
      <p:graphicFrame>
        <p:nvGraphicFramePr>
          <p:cNvPr id="13" name="表格 12">
            <a:extLst>
              <a:ext uri="{FF2B5EF4-FFF2-40B4-BE49-F238E27FC236}">
                <a16:creationId xmlns:a16="http://schemas.microsoft.com/office/drawing/2014/main" id="{1CAA7E59-B440-3426-B45D-F86AA4B0031C}"/>
              </a:ext>
            </a:extLst>
          </p:cNvPr>
          <p:cNvGraphicFramePr>
            <a:graphicFrameLocks noGrp="1"/>
          </p:cNvGraphicFramePr>
          <p:nvPr>
            <p:extLst>
              <p:ext uri="{D42A27DB-BD31-4B8C-83A1-F6EECF244321}">
                <p14:modId xmlns:p14="http://schemas.microsoft.com/office/powerpoint/2010/main" val="41434173"/>
              </p:ext>
            </p:extLst>
          </p:nvPr>
        </p:nvGraphicFramePr>
        <p:xfrm>
          <a:off x="1593850" y="1933689"/>
          <a:ext cx="8017475" cy="2654480"/>
        </p:xfrm>
        <a:graphic>
          <a:graphicData uri="http://schemas.openxmlformats.org/drawingml/2006/table">
            <a:tbl>
              <a:tblPr firstRow="1" firstCol="1" bandRow="1">
                <a:tableStyleId>{5C22544A-7EE6-4342-B048-85BDC9FD1C3A}</a:tableStyleId>
              </a:tblPr>
              <a:tblGrid>
                <a:gridCol w="755650">
                  <a:extLst>
                    <a:ext uri="{9D8B030D-6E8A-4147-A177-3AD203B41FA5}">
                      <a16:colId xmlns:a16="http://schemas.microsoft.com/office/drawing/2014/main" val="1601076288"/>
                    </a:ext>
                  </a:extLst>
                </a:gridCol>
                <a:gridCol w="2243202">
                  <a:extLst>
                    <a:ext uri="{9D8B030D-6E8A-4147-A177-3AD203B41FA5}">
                      <a16:colId xmlns:a16="http://schemas.microsoft.com/office/drawing/2014/main" val="381476030"/>
                    </a:ext>
                  </a:extLst>
                </a:gridCol>
                <a:gridCol w="1657870">
                  <a:extLst>
                    <a:ext uri="{9D8B030D-6E8A-4147-A177-3AD203B41FA5}">
                      <a16:colId xmlns:a16="http://schemas.microsoft.com/office/drawing/2014/main" val="2459756679"/>
                    </a:ext>
                  </a:extLst>
                </a:gridCol>
                <a:gridCol w="3360753">
                  <a:extLst>
                    <a:ext uri="{9D8B030D-6E8A-4147-A177-3AD203B41FA5}">
                      <a16:colId xmlns:a16="http://schemas.microsoft.com/office/drawing/2014/main" val="2890521987"/>
                    </a:ext>
                  </a:extLst>
                </a:gridCol>
              </a:tblGrid>
              <a:tr h="530896">
                <a:tc>
                  <a:txBody>
                    <a:bodyPr/>
                    <a:lstStyle/>
                    <a:p>
                      <a:pPr algn="ctr">
                        <a:buNone/>
                      </a:pPr>
                      <a:r>
                        <a:rPr lang="en-US" sz="1600" kern="100" dirty="0">
                          <a:effectLst/>
                          <a:latin typeface="Times New Roman" panose="02020603050405020304" pitchFamily="18" charset="0"/>
                          <a:cs typeface="Times New Roman" panose="02020603050405020304" pitchFamily="18" charset="0"/>
                        </a:rPr>
                        <a:t>Action</a:t>
                      </a:r>
                      <a:endParaRPr lang="zh-CN"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100" dirty="0">
                          <a:effectLst/>
                          <a:latin typeface="Times New Roman" panose="02020603050405020304" pitchFamily="18" charset="0"/>
                          <a:cs typeface="Times New Roman" panose="02020603050405020304" pitchFamily="18" charset="0"/>
                        </a:rPr>
                        <a:t>Phase index (SUMO)</a:t>
                      </a:r>
                      <a:endParaRPr lang="zh-CN"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100">
                          <a:effectLst/>
                          <a:latin typeface="Times New Roman" panose="02020603050405020304" pitchFamily="18" charset="0"/>
                          <a:cs typeface="Times New Roman" panose="02020603050405020304" pitchFamily="18" charset="0"/>
                        </a:rPr>
                        <a:t>Movement served</a:t>
                      </a:r>
                      <a:endParaRPr lang="zh-CN" sz="20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100" dirty="0">
                          <a:effectLst/>
                          <a:latin typeface="Times New Roman" panose="02020603050405020304" pitchFamily="18" charset="0"/>
                          <a:cs typeface="Times New Roman" panose="02020603050405020304" pitchFamily="18" charset="0"/>
                        </a:rPr>
                        <a:t>Description</a:t>
                      </a:r>
                      <a:endParaRPr lang="zh-CN"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53742771"/>
                  </a:ext>
                </a:extLst>
              </a:tr>
              <a:tr h="530896">
                <a:tc>
                  <a:txBody>
                    <a:bodyPr/>
                    <a:lstStyle/>
                    <a:p>
                      <a:pPr algn="ctr">
                        <a:buNone/>
                      </a:pPr>
                      <a:r>
                        <a:rPr lang="en-US" sz="1600" kern="100">
                          <a:effectLst/>
                          <a:latin typeface="Times New Roman" panose="02020603050405020304" pitchFamily="18" charset="0"/>
                          <a:cs typeface="Times New Roman" panose="02020603050405020304" pitchFamily="18" charset="0"/>
                        </a:rPr>
                        <a:t>0</a:t>
                      </a:r>
                      <a:endParaRPr lang="zh-CN" sz="20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100" dirty="0">
                          <a:effectLst/>
                          <a:latin typeface="Times New Roman" panose="02020603050405020304" pitchFamily="18" charset="0"/>
                          <a:cs typeface="Times New Roman" panose="02020603050405020304" pitchFamily="18" charset="0"/>
                        </a:rPr>
                        <a:t>PHASE_NS_GREEN = 0</a:t>
                      </a:r>
                      <a:endParaRPr lang="zh-CN"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100">
                          <a:effectLst/>
                          <a:latin typeface="Times New Roman" panose="02020603050405020304" pitchFamily="18" charset="0"/>
                          <a:cs typeface="Times New Roman" panose="02020603050405020304" pitchFamily="18" charset="0"/>
                        </a:rPr>
                        <a:t>North–South through/right</a:t>
                      </a:r>
                      <a:endParaRPr lang="zh-CN" sz="20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100">
                          <a:effectLst/>
                          <a:latin typeface="Times New Roman" panose="02020603050405020304" pitchFamily="18" charset="0"/>
                          <a:cs typeface="Times New Roman" panose="02020603050405020304" pitchFamily="18" charset="0"/>
                        </a:rPr>
                        <a:t>Both N and S approaches allow straight + right-turn traffic</a:t>
                      </a:r>
                      <a:endParaRPr lang="zh-CN" sz="20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044473041"/>
                  </a:ext>
                </a:extLst>
              </a:tr>
              <a:tr h="530896">
                <a:tc>
                  <a:txBody>
                    <a:bodyPr/>
                    <a:lstStyle/>
                    <a:p>
                      <a:pPr algn="ctr">
                        <a:buNone/>
                      </a:pPr>
                      <a:r>
                        <a:rPr lang="en-US" sz="1600" kern="100" dirty="0">
                          <a:effectLst/>
                          <a:latin typeface="Times New Roman" panose="02020603050405020304" pitchFamily="18" charset="0"/>
                          <a:cs typeface="Times New Roman" panose="02020603050405020304" pitchFamily="18" charset="0"/>
                        </a:rPr>
                        <a:t>1</a:t>
                      </a:r>
                      <a:endParaRPr lang="zh-CN"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100" dirty="0">
                          <a:effectLst/>
                          <a:latin typeface="Times New Roman" panose="02020603050405020304" pitchFamily="18" charset="0"/>
                          <a:cs typeface="Times New Roman" panose="02020603050405020304" pitchFamily="18" charset="0"/>
                        </a:rPr>
                        <a:t>PHASE_NSL_GREEN = 2</a:t>
                      </a:r>
                      <a:endParaRPr lang="zh-CN"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100" dirty="0">
                          <a:effectLst/>
                          <a:latin typeface="Times New Roman" panose="02020603050405020304" pitchFamily="18" charset="0"/>
                          <a:cs typeface="Times New Roman" panose="02020603050405020304" pitchFamily="18" charset="0"/>
                        </a:rPr>
                        <a:t>North–South left-turn</a:t>
                      </a:r>
                      <a:endParaRPr lang="zh-CN"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100">
                          <a:effectLst/>
                          <a:latin typeface="Times New Roman" panose="02020603050405020304" pitchFamily="18" charset="0"/>
                          <a:cs typeface="Times New Roman" panose="02020603050405020304" pitchFamily="18" charset="0"/>
                        </a:rPr>
                        <a:t>Left-turn lanes (N2TL_3, S2TL_3) get green</a:t>
                      </a:r>
                      <a:endParaRPr lang="zh-CN" sz="20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91267264"/>
                  </a:ext>
                </a:extLst>
              </a:tr>
              <a:tr h="530896">
                <a:tc>
                  <a:txBody>
                    <a:bodyPr/>
                    <a:lstStyle/>
                    <a:p>
                      <a:pPr algn="ctr">
                        <a:buNone/>
                      </a:pPr>
                      <a:r>
                        <a:rPr lang="en-US" sz="1600" kern="100">
                          <a:effectLst/>
                          <a:latin typeface="Times New Roman" panose="02020603050405020304" pitchFamily="18" charset="0"/>
                          <a:cs typeface="Times New Roman" panose="02020603050405020304" pitchFamily="18" charset="0"/>
                        </a:rPr>
                        <a:t>2</a:t>
                      </a:r>
                      <a:endParaRPr lang="zh-CN" sz="20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100" dirty="0">
                          <a:effectLst/>
                          <a:latin typeface="Times New Roman" panose="02020603050405020304" pitchFamily="18" charset="0"/>
                          <a:cs typeface="Times New Roman" panose="02020603050405020304" pitchFamily="18" charset="0"/>
                        </a:rPr>
                        <a:t>PHASE_EW_GREEN = 4</a:t>
                      </a:r>
                      <a:endParaRPr lang="zh-CN"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100" dirty="0">
                          <a:effectLst/>
                          <a:latin typeface="Times New Roman" panose="02020603050405020304" pitchFamily="18" charset="0"/>
                          <a:cs typeface="Times New Roman" panose="02020603050405020304" pitchFamily="18" charset="0"/>
                        </a:rPr>
                        <a:t>East–West through/right</a:t>
                      </a:r>
                      <a:endParaRPr lang="zh-CN"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100">
                          <a:effectLst/>
                          <a:latin typeface="Times New Roman" panose="02020603050405020304" pitchFamily="18" charset="0"/>
                          <a:cs typeface="Times New Roman" panose="02020603050405020304" pitchFamily="18" charset="0"/>
                        </a:rPr>
                        <a:t>Both E and W approaches allow straight + right-turn traffic</a:t>
                      </a:r>
                      <a:endParaRPr lang="zh-CN" sz="20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70055736"/>
                  </a:ext>
                </a:extLst>
              </a:tr>
              <a:tr h="530896">
                <a:tc>
                  <a:txBody>
                    <a:bodyPr/>
                    <a:lstStyle/>
                    <a:p>
                      <a:pPr algn="ctr">
                        <a:buNone/>
                      </a:pPr>
                      <a:r>
                        <a:rPr lang="en-US" sz="1600" kern="100">
                          <a:effectLst/>
                          <a:latin typeface="Times New Roman" panose="02020603050405020304" pitchFamily="18" charset="0"/>
                          <a:cs typeface="Times New Roman" panose="02020603050405020304" pitchFamily="18" charset="0"/>
                        </a:rPr>
                        <a:t>3</a:t>
                      </a:r>
                      <a:endParaRPr lang="zh-CN" sz="20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100" dirty="0">
                          <a:effectLst/>
                          <a:latin typeface="Times New Roman" panose="02020603050405020304" pitchFamily="18" charset="0"/>
                          <a:cs typeface="Times New Roman" panose="02020603050405020304" pitchFamily="18" charset="0"/>
                        </a:rPr>
                        <a:t>PHASE_EWL_GREEN = 6</a:t>
                      </a:r>
                      <a:endParaRPr lang="zh-CN"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100" dirty="0">
                          <a:effectLst/>
                          <a:latin typeface="Times New Roman" panose="02020603050405020304" pitchFamily="18" charset="0"/>
                          <a:cs typeface="Times New Roman" panose="02020603050405020304" pitchFamily="18" charset="0"/>
                        </a:rPr>
                        <a:t>East–West left-turn</a:t>
                      </a:r>
                      <a:endParaRPr lang="zh-CN"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100" dirty="0">
                          <a:effectLst/>
                          <a:latin typeface="Times New Roman" panose="02020603050405020304" pitchFamily="18" charset="0"/>
                          <a:cs typeface="Times New Roman" panose="02020603050405020304" pitchFamily="18" charset="0"/>
                        </a:rPr>
                        <a:t>Left-turn lanes (E2TL_3, W2TL_3) get green</a:t>
                      </a:r>
                      <a:endParaRPr lang="zh-CN"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017204287"/>
                  </a:ext>
                </a:extLst>
              </a:tr>
            </a:tbl>
          </a:graphicData>
        </a:graphic>
      </p:graphicFrame>
      <p:sp>
        <p:nvSpPr>
          <p:cNvPr id="14" name="文本框 13">
            <a:extLst>
              <a:ext uri="{FF2B5EF4-FFF2-40B4-BE49-F238E27FC236}">
                <a16:creationId xmlns:a16="http://schemas.microsoft.com/office/drawing/2014/main" id="{2B4C2297-79DC-CE68-E8F9-A5DE2DC39380}"/>
              </a:ext>
            </a:extLst>
          </p:cNvPr>
          <p:cNvSpPr txBox="1"/>
          <p:nvPr/>
        </p:nvSpPr>
        <p:spPr>
          <a:xfrm>
            <a:off x="1587500" y="4876800"/>
            <a:ext cx="8134350" cy="369332"/>
          </a:xfrm>
          <a:prstGeom prst="rect">
            <a:avLst/>
          </a:prstGeom>
          <a:noFill/>
        </p:spPr>
        <p:txBody>
          <a:bodyPr wrap="square" rtlCol="0">
            <a:spAutoFit/>
          </a:bodyPr>
          <a:lstStyle/>
          <a:p>
            <a:r>
              <a:rPr lang="zh-CN" altLang="en-US" dirty="0">
                <a:solidFill>
                  <a:srgbClr val="C00000"/>
                </a:solidFill>
                <a:latin typeface="华文中宋" panose="02010600040101010101" pitchFamily="2" charset="-122"/>
                <a:ea typeface="华文中宋" panose="02010600040101010101" pitchFamily="2" charset="-122"/>
              </a:rPr>
              <a:t>为了防止由于交通流量增加带来绿灯持续时间过大，设置了最大绿灯时间为</a:t>
            </a:r>
            <a:r>
              <a:rPr lang="en-US" altLang="zh-CN" dirty="0">
                <a:solidFill>
                  <a:srgbClr val="C00000"/>
                </a:solidFill>
                <a:latin typeface="华文中宋" panose="02010600040101010101" pitchFamily="2" charset="-122"/>
                <a:ea typeface="华文中宋" panose="02010600040101010101" pitchFamily="2" charset="-122"/>
              </a:rPr>
              <a:t>50s</a:t>
            </a:r>
            <a:r>
              <a:rPr lang="zh-CN" altLang="en-US" dirty="0">
                <a:solidFill>
                  <a:srgbClr val="C00000"/>
                </a:solidFill>
                <a:latin typeface="华文中宋" panose="02010600040101010101" pitchFamily="2" charset="-122"/>
                <a:ea typeface="华文中宋" panose="02010600040101010101" pitchFamily="2" charset="-122"/>
              </a:rPr>
              <a:t>。</a:t>
            </a:r>
          </a:p>
        </p:txBody>
      </p:sp>
    </p:spTree>
    <p:extLst>
      <p:ext uri="{BB962C8B-B14F-4D97-AF65-F5344CB8AC3E}">
        <p14:creationId xmlns:p14="http://schemas.microsoft.com/office/powerpoint/2010/main" val="3845874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364F9-241E-BFCB-BAEF-12FE3F39723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9DACD8A-296E-2AF6-469A-81D31529F287}"/>
              </a:ext>
            </a:extLst>
          </p:cNvPr>
          <p:cNvSpPr>
            <a:spLocks noGrp="1"/>
          </p:cNvSpPr>
          <p:nvPr>
            <p:ph type="title"/>
          </p:nvPr>
        </p:nvSpPr>
        <p:spPr>
          <a:xfrm>
            <a:off x="580448" y="168744"/>
            <a:ext cx="11147191" cy="604507"/>
          </a:xfrm>
          <a:solidFill>
            <a:schemeClr val="accent1">
              <a:lumMod val="75000"/>
            </a:schemeClr>
          </a:solidFill>
        </p:spPr>
        <p:txBody>
          <a:bodyPr>
            <a:noAutofit/>
          </a:bodyPr>
          <a:lstStyle/>
          <a:p>
            <a:r>
              <a:rPr lang="en-US" altLang="zh-CN" sz="3200" dirty="0">
                <a:solidFill>
                  <a:schemeClr val="bg1"/>
                </a:solidFill>
                <a:latin typeface="华文中宋" panose="02010600040101010101" pitchFamily="2" charset="-122"/>
                <a:ea typeface="华文中宋" panose="02010600040101010101" pitchFamily="2" charset="-122"/>
              </a:rPr>
              <a:t>2. </a:t>
            </a:r>
            <a:r>
              <a:rPr lang="zh-CN" altLang="en-US" sz="3200" dirty="0">
                <a:solidFill>
                  <a:schemeClr val="bg1"/>
                </a:solidFill>
                <a:latin typeface="华文中宋" panose="02010600040101010101" pitchFamily="2" charset="-122"/>
                <a:ea typeface="华文中宋" panose="02010600040101010101" pitchFamily="2" charset="-122"/>
              </a:rPr>
              <a:t>研究方法论</a:t>
            </a:r>
          </a:p>
        </p:txBody>
      </p:sp>
      <p:sp>
        <p:nvSpPr>
          <p:cNvPr id="3" name="内容占位符 2">
            <a:extLst>
              <a:ext uri="{FF2B5EF4-FFF2-40B4-BE49-F238E27FC236}">
                <a16:creationId xmlns:a16="http://schemas.microsoft.com/office/drawing/2014/main" id="{C2530EA3-FDFD-FCF3-E292-368A26378FD5}"/>
              </a:ext>
            </a:extLst>
          </p:cNvPr>
          <p:cNvSpPr>
            <a:spLocks noGrp="1"/>
          </p:cNvSpPr>
          <p:nvPr>
            <p:ph idx="1"/>
          </p:nvPr>
        </p:nvSpPr>
        <p:spPr>
          <a:xfrm>
            <a:off x="580448" y="941909"/>
            <a:ext cx="11147192" cy="5550945"/>
          </a:xfrm>
          <a:solidFill>
            <a:schemeClr val="accent1">
              <a:lumMod val="40000"/>
              <a:lumOff val="60000"/>
            </a:schemeClr>
          </a:solidFill>
        </p:spPr>
        <p:txBody>
          <a:bodyPr/>
          <a:lstStyle/>
          <a:p>
            <a:endParaRPr lang="en-US" altLang="zh-CN" sz="2400" dirty="0"/>
          </a:p>
          <a:p>
            <a:endParaRPr lang="zh-CN" altLang="en-US" sz="2400" dirty="0"/>
          </a:p>
        </p:txBody>
      </p:sp>
      <p:sp>
        <p:nvSpPr>
          <p:cNvPr id="7" name="文本框 6">
            <a:extLst>
              <a:ext uri="{FF2B5EF4-FFF2-40B4-BE49-F238E27FC236}">
                <a16:creationId xmlns:a16="http://schemas.microsoft.com/office/drawing/2014/main" id="{C60AAFB8-A32A-572F-519F-24A680230DF8}"/>
              </a:ext>
            </a:extLst>
          </p:cNvPr>
          <p:cNvSpPr txBox="1"/>
          <p:nvPr/>
        </p:nvSpPr>
        <p:spPr>
          <a:xfrm>
            <a:off x="958849" y="1200150"/>
            <a:ext cx="9550401" cy="4200445"/>
          </a:xfrm>
          <a:prstGeom prst="rect">
            <a:avLst/>
          </a:prstGeom>
          <a:noFill/>
        </p:spPr>
        <p:txBody>
          <a:bodyPr wrap="square" rtlCol="0">
            <a:spAutoFit/>
          </a:bodyPr>
          <a:lstStyle/>
          <a:p>
            <a:pPr>
              <a:lnSpc>
                <a:spcPct val="150000"/>
              </a:lnSpc>
            </a:pPr>
            <a:r>
              <a:rPr lang="en-US" altLang="zh-CN" sz="2000" b="1" dirty="0">
                <a:latin typeface="微软雅黑" panose="020B0503020204020204" pitchFamily="34" charset="-122"/>
                <a:ea typeface="微软雅黑" panose="020B0503020204020204" pitchFamily="34" charset="-122"/>
              </a:rPr>
              <a:t>2.3 </a:t>
            </a:r>
            <a:r>
              <a:rPr lang="zh-CN" altLang="en-US" sz="2000" b="1" dirty="0">
                <a:latin typeface="微软雅黑" panose="020B0503020204020204" pitchFamily="34" charset="-122"/>
                <a:ea typeface="微软雅黑" panose="020B0503020204020204" pitchFamily="34" charset="-122"/>
              </a:rPr>
              <a:t>奖励函数</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所有的算法模型都采用同一个基本奖励值函数</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即于累计等待时间相关的奖励函数。</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在</a:t>
            </a:r>
            <a:r>
              <a:rPr lang="en-US" altLang="zh-CN" sz="2000" dirty="0">
                <a:latin typeface="微软雅黑" panose="020B0503020204020204" pitchFamily="34" charset="-122"/>
                <a:ea typeface="微软雅黑" panose="020B0503020204020204" pitchFamily="34" charset="-122"/>
              </a:rPr>
              <a:t>D3QN</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PER-D3QN</a:t>
            </a:r>
            <a:r>
              <a:rPr lang="zh-CN" altLang="en-US" sz="2000" dirty="0">
                <a:latin typeface="微软雅黑" panose="020B0503020204020204" pitchFamily="34" charset="-122"/>
                <a:ea typeface="微软雅黑" panose="020B0503020204020204" pitchFamily="34" charset="-122"/>
              </a:rPr>
              <a:t>模型中还应用了额外的奖励机制：</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拥堵惩罚</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流通率奖励</a:t>
            </a:r>
          </a:p>
        </p:txBody>
      </p:sp>
      <p:pic>
        <p:nvPicPr>
          <p:cNvPr id="4" name="Picture 1" title="R 下标 W a i t t i m e 下标 t 结束下标 等于 W a i t t i m e 下标 t 减 1 结束下标 减 W a i t t i m e 下标 t">
            <a:extLst>
              <a:ext uri="{FF2B5EF4-FFF2-40B4-BE49-F238E27FC236}">
                <a16:creationId xmlns:a16="http://schemas.microsoft.com/office/drawing/2014/main" id="{E3B2E6E7-BF97-130D-86A1-2BF45BED0E1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89684" y="3429000"/>
            <a:ext cx="3714497" cy="346258"/>
          </a:xfrm>
          <a:prstGeom prst="rect">
            <a:avLst/>
          </a:prstGeom>
        </p:spPr>
      </p:pic>
      <p:pic>
        <p:nvPicPr>
          <p:cNvPr id="5" name="Picture 1" title="W a i t t i m e 下标 t 等于 加总 从 i 属于 IN 对 w a i t t i m e 下标 i">
            <a:extLst>
              <a:ext uri="{FF2B5EF4-FFF2-40B4-BE49-F238E27FC236}">
                <a16:creationId xmlns:a16="http://schemas.microsoft.com/office/drawing/2014/main" id="{BF17C56C-83EF-CF1B-DABB-5369A6C1B1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86616" y="2611238"/>
            <a:ext cx="2520634" cy="525529"/>
          </a:xfrm>
          <a:prstGeom prst="rect">
            <a:avLst/>
          </a:prstGeom>
        </p:spPr>
      </p:pic>
    </p:spTree>
    <p:extLst>
      <p:ext uri="{BB962C8B-B14F-4D97-AF65-F5344CB8AC3E}">
        <p14:creationId xmlns:p14="http://schemas.microsoft.com/office/powerpoint/2010/main" val="4000392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FC238-92B5-F01D-8410-1BEB3A851C8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2C086E5-A477-5281-16A2-36D265FB8336}"/>
              </a:ext>
            </a:extLst>
          </p:cNvPr>
          <p:cNvSpPr>
            <a:spLocks noGrp="1"/>
          </p:cNvSpPr>
          <p:nvPr>
            <p:ph type="title"/>
          </p:nvPr>
        </p:nvSpPr>
        <p:spPr>
          <a:xfrm>
            <a:off x="580448" y="168744"/>
            <a:ext cx="11147191" cy="604507"/>
          </a:xfrm>
          <a:solidFill>
            <a:schemeClr val="accent1">
              <a:lumMod val="75000"/>
            </a:schemeClr>
          </a:solidFill>
        </p:spPr>
        <p:txBody>
          <a:bodyPr>
            <a:noAutofit/>
          </a:bodyPr>
          <a:lstStyle/>
          <a:p>
            <a:r>
              <a:rPr lang="en-US" altLang="zh-CN" sz="3200" dirty="0">
                <a:solidFill>
                  <a:schemeClr val="bg1"/>
                </a:solidFill>
                <a:latin typeface="华文中宋" panose="02010600040101010101" pitchFamily="2" charset="-122"/>
                <a:ea typeface="华文中宋" panose="02010600040101010101" pitchFamily="2" charset="-122"/>
              </a:rPr>
              <a:t>2. </a:t>
            </a:r>
            <a:r>
              <a:rPr lang="zh-CN" altLang="en-US" sz="3200" dirty="0">
                <a:solidFill>
                  <a:schemeClr val="bg1"/>
                </a:solidFill>
                <a:latin typeface="华文中宋" panose="02010600040101010101" pitchFamily="2" charset="-122"/>
                <a:ea typeface="华文中宋" panose="02010600040101010101" pitchFamily="2" charset="-122"/>
              </a:rPr>
              <a:t>研究方法论</a:t>
            </a:r>
          </a:p>
        </p:txBody>
      </p:sp>
      <p:sp>
        <p:nvSpPr>
          <p:cNvPr id="3" name="内容占位符 2">
            <a:extLst>
              <a:ext uri="{FF2B5EF4-FFF2-40B4-BE49-F238E27FC236}">
                <a16:creationId xmlns:a16="http://schemas.microsoft.com/office/drawing/2014/main" id="{8C67BB97-613B-D912-773B-29BDF419C12B}"/>
              </a:ext>
            </a:extLst>
          </p:cNvPr>
          <p:cNvSpPr>
            <a:spLocks noGrp="1"/>
          </p:cNvSpPr>
          <p:nvPr>
            <p:ph idx="1"/>
          </p:nvPr>
        </p:nvSpPr>
        <p:spPr>
          <a:xfrm>
            <a:off x="580448" y="941909"/>
            <a:ext cx="11147192" cy="5550945"/>
          </a:xfrm>
          <a:solidFill>
            <a:schemeClr val="accent1">
              <a:lumMod val="40000"/>
              <a:lumOff val="60000"/>
            </a:schemeClr>
          </a:solidFill>
        </p:spPr>
        <p:txBody>
          <a:bodyPr/>
          <a:lstStyle/>
          <a:p>
            <a:endParaRPr lang="en-US" altLang="zh-CN" sz="2400" dirty="0"/>
          </a:p>
          <a:p>
            <a:endParaRPr lang="zh-CN" altLang="en-US" sz="2400" dirty="0"/>
          </a:p>
        </p:txBody>
      </p:sp>
      <p:sp>
        <p:nvSpPr>
          <p:cNvPr id="7" name="文本框 6">
            <a:extLst>
              <a:ext uri="{FF2B5EF4-FFF2-40B4-BE49-F238E27FC236}">
                <a16:creationId xmlns:a16="http://schemas.microsoft.com/office/drawing/2014/main" id="{31918274-17B7-81DC-C061-B2463479B5E4}"/>
              </a:ext>
            </a:extLst>
          </p:cNvPr>
          <p:cNvSpPr txBox="1"/>
          <p:nvPr/>
        </p:nvSpPr>
        <p:spPr>
          <a:xfrm>
            <a:off x="958849" y="1200150"/>
            <a:ext cx="9550401" cy="3731278"/>
          </a:xfrm>
          <a:prstGeom prst="rect">
            <a:avLst/>
          </a:prstGeom>
          <a:noFill/>
        </p:spPr>
        <p:txBody>
          <a:bodyPr wrap="square" rtlCol="0">
            <a:spAutoFit/>
          </a:bodyPr>
          <a:lstStyle/>
          <a:p>
            <a:pPr>
              <a:lnSpc>
                <a:spcPct val="150000"/>
              </a:lnSpc>
            </a:pPr>
            <a:r>
              <a:rPr lang="en-US" altLang="zh-CN" sz="2000" b="1" dirty="0">
                <a:latin typeface="微软雅黑" panose="020B0503020204020204" pitchFamily="34" charset="-122"/>
                <a:ea typeface="微软雅黑" panose="020B0503020204020204" pitchFamily="34" charset="-122"/>
              </a:rPr>
              <a:t>2.4 </a:t>
            </a:r>
            <a:r>
              <a:rPr lang="zh-CN" altLang="en-US" sz="2000" b="1" dirty="0">
                <a:latin typeface="微软雅黑" panose="020B0503020204020204" pitchFamily="34" charset="-122"/>
                <a:ea typeface="微软雅黑" panose="020B0503020204020204" pitchFamily="34" charset="-122"/>
              </a:rPr>
              <a:t>贪婪</a:t>
            </a:r>
            <a:r>
              <a:rPr lang="en-US" altLang="zh-CN" sz="2000" b="1" dirty="0">
                <a:latin typeface="微软雅黑" panose="020B0503020204020204" pitchFamily="34" charset="-122"/>
                <a:ea typeface="微软雅黑" panose="020B0503020204020204" pitchFamily="34" charset="-122"/>
              </a:rPr>
              <a:t>-ε</a:t>
            </a:r>
            <a:r>
              <a:rPr lang="zh-CN" altLang="en-US" sz="2000" b="1" dirty="0">
                <a:latin typeface="微软雅黑" panose="020B0503020204020204" pitchFamily="34" charset="-122"/>
                <a:ea typeface="微软雅黑" panose="020B0503020204020204" pitchFamily="34" charset="-122"/>
              </a:rPr>
              <a:t>策略</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采用指数衰减策略：</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可以保证器在训练前期充分探索，后期训练保留一定的探索率的同时，学习收敛</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p:txBody>
      </p:sp>
      <p:pic>
        <p:nvPicPr>
          <p:cNvPr id="6" name="Picture 1" title="epsilon （ 小写 ） 下标 t 等于 epsilon （ 小写 ） 下标 e n d 结束下标 加 左小括号 epsilon （ 小写 ） 下标 s t a r t 结束下标 减 epsilon （ 小写 ） 下标 e n d 结束下标 右小括号 乘 e 的 负 分数 epsilon （ 小写 ） 下标 d e c a y 结束下标 分之 t 次方">
            <a:extLst>
              <a:ext uri="{FF2B5EF4-FFF2-40B4-BE49-F238E27FC236}">
                <a16:creationId xmlns:a16="http://schemas.microsoft.com/office/drawing/2014/main" id="{10EE34A1-863E-39C1-983E-764BA828DB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78357" y="2616994"/>
            <a:ext cx="4226783" cy="755935"/>
          </a:xfrm>
          <a:prstGeom prst="rect">
            <a:avLst/>
          </a:prstGeom>
        </p:spPr>
      </p:pic>
    </p:spTree>
    <p:extLst>
      <p:ext uri="{BB962C8B-B14F-4D97-AF65-F5344CB8AC3E}">
        <p14:creationId xmlns:p14="http://schemas.microsoft.com/office/powerpoint/2010/main" val="2190805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BE721-F5F5-BDC4-DF45-D680AFC955D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5760E5F-6A78-5373-3355-5BBFE5FB973B}"/>
              </a:ext>
            </a:extLst>
          </p:cNvPr>
          <p:cNvSpPr>
            <a:spLocks noGrp="1"/>
          </p:cNvSpPr>
          <p:nvPr>
            <p:ph type="title"/>
          </p:nvPr>
        </p:nvSpPr>
        <p:spPr>
          <a:xfrm>
            <a:off x="580448" y="168744"/>
            <a:ext cx="11147191" cy="604507"/>
          </a:xfrm>
          <a:solidFill>
            <a:schemeClr val="accent1">
              <a:lumMod val="75000"/>
            </a:schemeClr>
          </a:solidFill>
        </p:spPr>
        <p:txBody>
          <a:bodyPr>
            <a:noAutofit/>
          </a:bodyPr>
          <a:lstStyle/>
          <a:p>
            <a:r>
              <a:rPr lang="en-US" altLang="zh-CN" sz="3200" dirty="0">
                <a:solidFill>
                  <a:schemeClr val="bg1"/>
                </a:solidFill>
                <a:latin typeface="华文中宋" panose="02010600040101010101" pitchFamily="2" charset="-122"/>
                <a:ea typeface="华文中宋" panose="02010600040101010101" pitchFamily="2" charset="-122"/>
              </a:rPr>
              <a:t>2. </a:t>
            </a:r>
            <a:r>
              <a:rPr lang="zh-CN" altLang="en-US" sz="3200" dirty="0">
                <a:solidFill>
                  <a:schemeClr val="bg1"/>
                </a:solidFill>
                <a:latin typeface="华文中宋" panose="02010600040101010101" pitchFamily="2" charset="-122"/>
                <a:ea typeface="华文中宋" panose="02010600040101010101" pitchFamily="2" charset="-122"/>
              </a:rPr>
              <a:t>研究方法论</a:t>
            </a:r>
          </a:p>
        </p:txBody>
      </p:sp>
      <p:sp>
        <p:nvSpPr>
          <p:cNvPr id="3" name="内容占位符 2">
            <a:extLst>
              <a:ext uri="{FF2B5EF4-FFF2-40B4-BE49-F238E27FC236}">
                <a16:creationId xmlns:a16="http://schemas.microsoft.com/office/drawing/2014/main" id="{C84FAE10-54AC-1E70-BDEA-8324E9B85CFA}"/>
              </a:ext>
            </a:extLst>
          </p:cNvPr>
          <p:cNvSpPr>
            <a:spLocks noGrp="1"/>
          </p:cNvSpPr>
          <p:nvPr>
            <p:ph idx="1"/>
          </p:nvPr>
        </p:nvSpPr>
        <p:spPr>
          <a:xfrm>
            <a:off x="580448" y="923499"/>
            <a:ext cx="11147192" cy="5550945"/>
          </a:xfrm>
          <a:solidFill>
            <a:schemeClr val="accent1">
              <a:lumMod val="40000"/>
              <a:lumOff val="60000"/>
            </a:schemeClr>
          </a:solidFill>
        </p:spPr>
        <p:txBody>
          <a:bodyPr/>
          <a:lstStyle/>
          <a:p>
            <a:endParaRPr lang="en-US" altLang="zh-CN" sz="2400" dirty="0"/>
          </a:p>
          <a:p>
            <a:endParaRPr lang="zh-CN" altLang="en-US" sz="2400" dirty="0"/>
          </a:p>
        </p:txBody>
      </p:sp>
      <p:sp>
        <p:nvSpPr>
          <p:cNvPr id="7" name="文本框 6">
            <a:extLst>
              <a:ext uri="{FF2B5EF4-FFF2-40B4-BE49-F238E27FC236}">
                <a16:creationId xmlns:a16="http://schemas.microsoft.com/office/drawing/2014/main" id="{2E9670E3-AF1F-4A89-6EF9-37CE49BC53DE}"/>
              </a:ext>
            </a:extLst>
          </p:cNvPr>
          <p:cNvSpPr txBox="1"/>
          <p:nvPr/>
        </p:nvSpPr>
        <p:spPr>
          <a:xfrm>
            <a:off x="958849" y="1200150"/>
            <a:ext cx="9550401" cy="1422954"/>
          </a:xfrm>
          <a:prstGeom prst="rect">
            <a:avLst/>
          </a:prstGeom>
          <a:noFill/>
        </p:spPr>
        <p:txBody>
          <a:bodyPr wrap="square" rtlCol="0">
            <a:spAutoFit/>
          </a:bodyPr>
          <a:lstStyle/>
          <a:p>
            <a:pPr>
              <a:lnSpc>
                <a:spcPct val="150000"/>
              </a:lnSpc>
            </a:pPr>
            <a:r>
              <a:rPr lang="en-US" altLang="zh-CN" sz="2000" b="1" dirty="0">
                <a:latin typeface="微软雅黑" panose="020B0503020204020204" pitchFamily="34" charset="-122"/>
                <a:ea typeface="微软雅黑" panose="020B0503020204020204" pitchFamily="34" charset="-122"/>
              </a:rPr>
              <a:t>2.5 Agent </a:t>
            </a:r>
            <a:r>
              <a:rPr lang="zh-CN" altLang="en-US" sz="2000" b="1" dirty="0">
                <a:latin typeface="微软雅黑" panose="020B0503020204020204" pitchFamily="34" charset="-122"/>
                <a:ea typeface="微软雅黑" panose="020B0503020204020204" pitchFamily="34" charset="-122"/>
              </a:rPr>
              <a:t>架构</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本次研究共应用了</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个</a:t>
            </a:r>
            <a:r>
              <a:rPr lang="en-US" altLang="zh-CN" sz="2000" dirty="0">
                <a:latin typeface="微软雅黑" panose="020B0503020204020204" pitchFamily="34" charset="-122"/>
                <a:ea typeface="微软雅黑" panose="020B0503020204020204" pitchFamily="34" charset="-122"/>
              </a:rPr>
              <a:t>agent</a:t>
            </a:r>
            <a:r>
              <a:rPr lang="zh-CN" altLang="en-US" sz="2000" dirty="0">
                <a:latin typeface="微软雅黑" panose="020B0503020204020204" pitchFamily="34" charset="-122"/>
                <a:ea typeface="微软雅黑" panose="020B0503020204020204" pitchFamily="34" charset="-122"/>
              </a:rPr>
              <a:t>，对应</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个算法：</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b="1" dirty="0">
                <a:solidFill>
                  <a:srgbClr val="C00000"/>
                </a:solidFill>
                <a:latin typeface="微软雅黑" panose="020B0503020204020204" pitchFamily="34" charset="-122"/>
                <a:ea typeface="微软雅黑" panose="020B0503020204020204" pitchFamily="34" charset="-122"/>
              </a:rPr>
              <a:t>DQN: </a:t>
            </a:r>
          </a:p>
        </p:txBody>
      </p:sp>
      <p:pic>
        <p:nvPicPr>
          <p:cNvPr id="211" name="图片 210">
            <a:extLst>
              <a:ext uri="{FF2B5EF4-FFF2-40B4-BE49-F238E27FC236}">
                <a16:creationId xmlns:a16="http://schemas.microsoft.com/office/drawing/2014/main" id="{0E02882F-634C-AB2B-6EBF-9833E0EAB364}"/>
              </a:ext>
            </a:extLst>
          </p:cNvPr>
          <p:cNvPicPr>
            <a:picLocks noChangeAspect="1"/>
          </p:cNvPicPr>
          <p:nvPr/>
        </p:nvPicPr>
        <p:blipFill>
          <a:blip r:embed="rId2"/>
          <a:stretch>
            <a:fillRect/>
          </a:stretch>
        </p:blipFill>
        <p:spPr>
          <a:xfrm>
            <a:off x="2571749" y="2404580"/>
            <a:ext cx="6859956" cy="3392970"/>
          </a:xfrm>
          <a:prstGeom prst="rect">
            <a:avLst/>
          </a:prstGeom>
          <a:ln>
            <a:solidFill>
              <a:schemeClr val="tx1"/>
            </a:solidFill>
          </a:ln>
        </p:spPr>
      </p:pic>
    </p:spTree>
    <p:extLst>
      <p:ext uri="{BB962C8B-B14F-4D97-AF65-F5344CB8AC3E}">
        <p14:creationId xmlns:p14="http://schemas.microsoft.com/office/powerpoint/2010/main" val="3635107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CD7D0-59F4-9155-D22D-76AD5196A38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B93591E-EFD6-2E6D-A282-F444109A70C8}"/>
              </a:ext>
            </a:extLst>
          </p:cNvPr>
          <p:cNvSpPr>
            <a:spLocks noGrp="1"/>
          </p:cNvSpPr>
          <p:nvPr>
            <p:ph type="title"/>
          </p:nvPr>
        </p:nvSpPr>
        <p:spPr>
          <a:xfrm>
            <a:off x="580448" y="168744"/>
            <a:ext cx="11147191" cy="604507"/>
          </a:xfrm>
          <a:solidFill>
            <a:schemeClr val="accent1">
              <a:lumMod val="75000"/>
            </a:schemeClr>
          </a:solidFill>
        </p:spPr>
        <p:txBody>
          <a:bodyPr>
            <a:noAutofit/>
          </a:bodyPr>
          <a:lstStyle/>
          <a:p>
            <a:r>
              <a:rPr lang="en-US" altLang="zh-CN" sz="3200" dirty="0">
                <a:solidFill>
                  <a:schemeClr val="bg1"/>
                </a:solidFill>
                <a:latin typeface="华文中宋" panose="02010600040101010101" pitchFamily="2" charset="-122"/>
                <a:ea typeface="华文中宋" panose="02010600040101010101" pitchFamily="2" charset="-122"/>
              </a:rPr>
              <a:t>2. </a:t>
            </a:r>
            <a:r>
              <a:rPr lang="zh-CN" altLang="en-US" sz="3200" dirty="0">
                <a:solidFill>
                  <a:schemeClr val="bg1"/>
                </a:solidFill>
                <a:latin typeface="华文中宋" panose="02010600040101010101" pitchFamily="2" charset="-122"/>
                <a:ea typeface="华文中宋" panose="02010600040101010101" pitchFamily="2" charset="-122"/>
              </a:rPr>
              <a:t>研究方法论</a:t>
            </a:r>
          </a:p>
        </p:txBody>
      </p:sp>
      <p:sp>
        <p:nvSpPr>
          <p:cNvPr id="3" name="内容占位符 2">
            <a:extLst>
              <a:ext uri="{FF2B5EF4-FFF2-40B4-BE49-F238E27FC236}">
                <a16:creationId xmlns:a16="http://schemas.microsoft.com/office/drawing/2014/main" id="{B3C836DC-107B-D5BD-90DE-0E6158DA6F5E}"/>
              </a:ext>
            </a:extLst>
          </p:cNvPr>
          <p:cNvSpPr>
            <a:spLocks noGrp="1"/>
          </p:cNvSpPr>
          <p:nvPr>
            <p:ph idx="1"/>
          </p:nvPr>
        </p:nvSpPr>
        <p:spPr>
          <a:xfrm>
            <a:off x="580448" y="941909"/>
            <a:ext cx="11147192" cy="5550945"/>
          </a:xfrm>
          <a:solidFill>
            <a:schemeClr val="accent1">
              <a:lumMod val="40000"/>
              <a:lumOff val="60000"/>
            </a:schemeClr>
          </a:solidFill>
        </p:spPr>
        <p:txBody>
          <a:bodyPr/>
          <a:lstStyle/>
          <a:p>
            <a:endParaRPr lang="en-US" altLang="zh-CN" sz="2400" dirty="0"/>
          </a:p>
          <a:p>
            <a:endParaRPr lang="zh-CN" altLang="en-US" sz="2400" dirty="0"/>
          </a:p>
        </p:txBody>
      </p:sp>
      <p:sp>
        <p:nvSpPr>
          <p:cNvPr id="7" name="文本框 6">
            <a:extLst>
              <a:ext uri="{FF2B5EF4-FFF2-40B4-BE49-F238E27FC236}">
                <a16:creationId xmlns:a16="http://schemas.microsoft.com/office/drawing/2014/main" id="{6C3F462D-FED8-BDE4-FB06-E062FE6FEE62}"/>
              </a:ext>
            </a:extLst>
          </p:cNvPr>
          <p:cNvSpPr txBox="1"/>
          <p:nvPr/>
        </p:nvSpPr>
        <p:spPr>
          <a:xfrm>
            <a:off x="958849" y="1200150"/>
            <a:ext cx="9550401" cy="961289"/>
          </a:xfrm>
          <a:prstGeom prst="rect">
            <a:avLst/>
          </a:prstGeom>
          <a:noFill/>
        </p:spPr>
        <p:txBody>
          <a:bodyPr wrap="square" rtlCol="0">
            <a:spAutoFit/>
          </a:bodyPr>
          <a:lstStyle/>
          <a:p>
            <a:pPr>
              <a:lnSpc>
                <a:spcPct val="150000"/>
              </a:lnSpc>
            </a:pPr>
            <a:r>
              <a:rPr lang="en-US" altLang="zh-CN" sz="2000" b="1" dirty="0">
                <a:latin typeface="微软雅黑" panose="020B0503020204020204" pitchFamily="34" charset="-122"/>
                <a:ea typeface="微软雅黑" panose="020B0503020204020204" pitchFamily="34" charset="-122"/>
              </a:rPr>
              <a:t>2.5 Agent </a:t>
            </a:r>
            <a:r>
              <a:rPr lang="zh-CN" altLang="en-US" sz="2000" b="1" dirty="0">
                <a:latin typeface="微软雅黑" panose="020B0503020204020204" pitchFamily="34" charset="-122"/>
                <a:ea typeface="微软雅黑" panose="020B0503020204020204" pitchFamily="34" charset="-122"/>
              </a:rPr>
              <a:t>架构</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solidFill>
                  <a:srgbClr val="C00000"/>
                </a:solidFill>
                <a:latin typeface="微软雅黑" panose="020B0503020204020204" pitchFamily="34" charset="-122"/>
                <a:ea typeface="微软雅黑" panose="020B0503020204020204" pitchFamily="34" charset="-122"/>
              </a:rPr>
              <a:t>D3QN: </a:t>
            </a:r>
          </a:p>
        </p:txBody>
      </p:sp>
      <p:pic>
        <p:nvPicPr>
          <p:cNvPr id="4" name="图片 3">
            <a:extLst>
              <a:ext uri="{FF2B5EF4-FFF2-40B4-BE49-F238E27FC236}">
                <a16:creationId xmlns:a16="http://schemas.microsoft.com/office/drawing/2014/main" id="{84D8685A-512A-042E-0279-9782D643A9A0}"/>
              </a:ext>
            </a:extLst>
          </p:cNvPr>
          <p:cNvPicPr>
            <a:picLocks noChangeAspect="1"/>
          </p:cNvPicPr>
          <p:nvPr/>
        </p:nvPicPr>
        <p:blipFill>
          <a:blip r:embed="rId2"/>
          <a:stretch>
            <a:fillRect/>
          </a:stretch>
        </p:blipFill>
        <p:spPr>
          <a:xfrm>
            <a:off x="1805870" y="2330097"/>
            <a:ext cx="8696345" cy="2911030"/>
          </a:xfrm>
          <a:prstGeom prst="rect">
            <a:avLst/>
          </a:prstGeom>
          <a:ln>
            <a:solidFill>
              <a:schemeClr val="tx1"/>
            </a:solidFill>
          </a:ln>
        </p:spPr>
      </p:pic>
    </p:spTree>
    <p:extLst>
      <p:ext uri="{BB962C8B-B14F-4D97-AF65-F5344CB8AC3E}">
        <p14:creationId xmlns:p14="http://schemas.microsoft.com/office/powerpoint/2010/main" val="2957465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53804-60EF-0B4B-FC32-64DB5BDE3C4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DF265F5-F129-5B30-3F24-35DA14877310}"/>
              </a:ext>
            </a:extLst>
          </p:cNvPr>
          <p:cNvSpPr>
            <a:spLocks noGrp="1"/>
          </p:cNvSpPr>
          <p:nvPr>
            <p:ph type="title"/>
          </p:nvPr>
        </p:nvSpPr>
        <p:spPr>
          <a:xfrm>
            <a:off x="580448" y="168744"/>
            <a:ext cx="11147191" cy="604507"/>
          </a:xfrm>
          <a:solidFill>
            <a:schemeClr val="accent1">
              <a:lumMod val="75000"/>
            </a:schemeClr>
          </a:solidFill>
        </p:spPr>
        <p:txBody>
          <a:bodyPr>
            <a:noAutofit/>
          </a:bodyPr>
          <a:lstStyle/>
          <a:p>
            <a:r>
              <a:rPr lang="en-US" altLang="zh-CN" sz="3200" dirty="0">
                <a:solidFill>
                  <a:schemeClr val="bg1"/>
                </a:solidFill>
                <a:latin typeface="华文中宋" panose="02010600040101010101" pitchFamily="2" charset="-122"/>
                <a:ea typeface="华文中宋" panose="02010600040101010101" pitchFamily="2" charset="-122"/>
              </a:rPr>
              <a:t>2. </a:t>
            </a:r>
            <a:r>
              <a:rPr lang="zh-CN" altLang="en-US" sz="3200" dirty="0">
                <a:solidFill>
                  <a:schemeClr val="bg1"/>
                </a:solidFill>
                <a:latin typeface="华文中宋" panose="02010600040101010101" pitchFamily="2" charset="-122"/>
                <a:ea typeface="华文中宋" panose="02010600040101010101" pitchFamily="2" charset="-122"/>
              </a:rPr>
              <a:t>研究方法论</a:t>
            </a:r>
          </a:p>
        </p:txBody>
      </p:sp>
      <p:sp>
        <p:nvSpPr>
          <p:cNvPr id="3" name="内容占位符 2">
            <a:extLst>
              <a:ext uri="{FF2B5EF4-FFF2-40B4-BE49-F238E27FC236}">
                <a16:creationId xmlns:a16="http://schemas.microsoft.com/office/drawing/2014/main" id="{DC2AB3C1-5494-C387-CE5A-7295A1D732DF}"/>
              </a:ext>
            </a:extLst>
          </p:cNvPr>
          <p:cNvSpPr>
            <a:spLocks noGrp="1"/>
          </p:cNvSpPr>
          <p:nvPr>
            <p:ph idx="1"/>
          </p:nvPr>
        </p:nvSpPr>
        <p:spPr>
          <a:xfrm>
            <a:off x="580448" y="941909"/>
            <a:ext cx="11147192" cy="5550945"/>
          </a:xfrm>
          <a:solidFill>
            <a:schemeClr val="accent1">
              <a:lumMod val="40000"/>
              <a:lumOff val="60000"/>
            </a:schemeClr>
          </a:solidFill>
        </p:spPr>
        <p:txBody>
          <a:bodyPr/>
          <a:lstStyle/>
          <a:p>
            <a:endParaRPr lang="en-US" altLang="zh-CN" sz="2400" dirty="0"/>
          </a:p>
          <a:p>
            <a:endParaRPr lang="zh-CN" altLang="en-US" sz="2400" dirty="0"/>
          </a:p>
        </p:txBody>
      </p:sp>
      <p:sp>
        <p:nvSpPr>
          <p:cNvPr id="7" name="文本框 6">
            <a:extLst>
              <a:ext uri="{FF2B5EF4-FFF2-40B4-BE49-F238E27FC236}">
                <a16:creationId xmlns:a16="http://schemas.microsoft.com/office/drawing/2014/main" id="{8C111193-E592-20AF-32E6-50707D606A20}"/>
              </a:ext>
            </a:extLst>
          </p:cNvPr>
          <p:cNvSpPr txBox="1"/>
          <p:nvPr/>
        </p:nvSpPr>
        <p:spPr>
          <a:xfrm>
            <a:off x="958849" y="1200150"/>
            <a:ext cx="9550401" cy="4654608"/>
          </a:xfrm>
          <a:prstGeom prst="rect">
            <a:avLst/>
          </a:prstGeom>
          <a:noFill/>
        </p:spPr>
        <p:txBody>
          <a:bodyPr wrap="square" rtlCol="0">
            <a:spAutoFit/>
          </a:bodyPr>
          <a:lstStyle/>
          <a:p>
            <a:pPr>
              <a:lnSpc>
                <a:spcPct val="150000"/>
              </a:lnSpc>
            </a:pPr>
            <a:r>
              <a:rPr lang="en-US" altLang="zh-CN" sz="2000" b="1" dirty="0">
                <a:latin typeface="微软雅黑" panose="020B0503020204020204" pitchFamily="34" charset="-122"/>
                <a:ea typeface="微软雅黑" panose="020B0503020204020204" pitchFamily="34" charset="-122"/>
              </a:rPr>
              <a:t>2.5 Agent </a:t>
            </a:r>
            <a:r>
              <a:rPr lang="zh-CN" altLang="en-US" sz="2000" b="1" dirty="0">
                <a:latin typeface="微软雅黑" panose="020B0503020204020204" pitchFamily="34" charset="-122"/>
                <a:ea typeface="微软雅黑" panose="020B0503020204020204" pitchFamily="34" charset="-122"/>
              </a:rPr>
              <a:t>架构</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solidFill>
                  <a:srgbClr val="C00000"/>
                </a:solidFill>
                <a:latin typeface="微软雅黑" panose="020B0503020204020204" pitchFamily="34" charset="-122"/>
                <a:ea typeface="微软雅黑" panose="020B0503020204020204" pitchFamily="34" charset="-122"/>
              </a:rPr>
              <a:t>PER-D3QN: </a:t>
            </a:r>
          </a:p>
          <a:p>
            <a:pPr>
              <a:lnSpc>
                <a:spcPct val="150000"/>
              </a:lnSpc>
            </a:pPr>
            <a:r>
              <a:rPr lang="zh-CN" altLang="en-US" sz="2000" dirty="0">
                <a:latin typeface="微软雅黑" panose="020B0503020204020204" pitchFamily="34" charset="-122"/>
                <a:ea typeface="微软雅黑" panose="020B0503020204020204" pitchFamily="34" charset="-122"/>
              </a:rPr>
              <a:t>增加了</a:t>
            </a:r>
            <a:r>
              <a:rPr lang="zh-CN" altLang="en-US" sz="2000" b="1" dirty="0">
                <a:latin typeface="微软雅黑" panose="020B0503020204020204" pitchFamily="34" charset="-122"/>
                <a:ea typeface="微软雅黑" panose="020B0503020204020204" pitchFamily="34" charset="-122"/>
              </a:rPr>
              <a:t>优先经验回放机制（</a:t>
            </a:r>
            <a:r>
              <a:rPr lang="en-US" altLang="zh-CN" sz="2000" b="1" dirty="0">
                <a:latin typeface="微软雅黑" panose="020B0503020204020204" pitchFamily="34" charset="-122"/>
                <a:ea typeface="微软雅黑" panose="020B0503020204020204" pitchFamily="34" charset="-122"/>
              </a:rPr>
              <a:t>PER</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当</a:t>
            </a:r>
            <a:r>
              <a:rPr lang="en-US" altLang="zh-CN" sz="2000" dirty="0">
                <a:latin typeface="微软雅黑" panose="020B0503020204020204" pitchFamily="34" charset="-122"/>
                <a:ea typeface="微软雅黑" panose="020B0503020204020204" pitchFamily="34" charset="-122"/>
              </a:rPr>
              <a:t>TD</a:t>
            </a:r>
            <a:r>
              <a:rPr lang="zh-CN" altLang="en-US" sz="2000" dirty="0">
                <a:latin typeface="微软雅黑" panose="020B0503020204020204" pitchFamily="34" charset="-122"/>
                <a:ea typeface="微软雅黑" panose="020B0503020204020204" pitchFamily="34" charset="-122"/>
              </a:rPr>
              <a:t>误差越大时，被采样的概率就越大；</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PER </a:t>
            </a:r>
            <a:r>
              <a:rPr lang="zh-CN" altLang="en-US" sz="2000" dirty="0">
                <a:latin typeface="微软雅黑" panose="020B0503020204020204" pitchFamily="34" charset="-122"/>
                <a:ea typeface="微软雅黑" panose="020B0503020204020204" pitchFamily="34" charset="-122"/>
              </a:rPr>
              <a:t>机制提高了采样效率，使得收敛速度更快，适应复杂的交通场景</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p:txBody>
      </p:sp>
      <p:pic>
        <p:nvPicPr>
          <p:cNvPr id="5" name="Picture 1" title="delta （ 小写 ） 等于 y 减 Q 左小括号 s 逗号 a 右小括号">
            <a:extLst>
              <a:ext uri="{FF2B5EF4-FFF2-40B4-BE49-F238E27FC236}">
                <a16:creationId xmlns:a16="http://schemas.microsoft.com/office/drawing/2014/main" id="{7F9FE506-C116-E01E-2B00-FB4D620524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17770" y="3310731"/>
            <a:ext cx="1726150" cy="236538"/>
          </a:xfrm>
          <a:prstGeom prst="rect">
            <a:avLst/>
          </a:prstGeom>
        </p:spPr>
      </p:pic>
      <p:pic>
        <p:nvPicPr>
          <p:cNvPr id="6" name="Picture 1" title="P 左小括号 i 右小括号 等于 分数 加总 从 j 对 空格 p 下标 j 上标 alpha （ 小写 ） 分之 p 下标 i 上标 alpha （ 小写 ） 结束分数">
            <a:extLst>
              <a:ext uri="{FF2B5EF4-FFF2-40B4-BE49-F238E27FC236}">
                <a16:creationId xmlns:a16="http://schemas.microsoft.com/office/drawing/2014/main" id="{ABA94E75-7800-AC61-4BB7-54C6EA9868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1740" y="3706812"/>
            <a:ext cx="1812180" cy="926354"/>
          </a:xfrm>
          <a:prstGeom prst="rect">
            <a:avLst/>
          </a:prstGeom>
        </p:spPr>
      </p:pic>
    </p:spTree>
    <p:extLst>
      <p:ext uri="{BB962C8B-B14F-4D97-AF65-F5344CB8AC3E}">
        <p14:creationId xmlns:p14="http://schemas.microsoft.com/office/powerpoint/2010/main" val="1423728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14464-27F0-3F63-DCE7-C0047F6F2B6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87AB3B0-A401-80A8-097C-20F7884F1FA8}"/>
              </a:ext>
            </a:extLst>
          </p:cNvPr>
          <p:cNvSpPr>
            <a:spLocks noGrp="1"/>
          </p:cNvSpPr>
          <p:nvPr>
            <p:ph type="title"/>
          </p:nvPr>
        </p:nvSpPr>
        <p:spPr>
          <a:xfrm>
            <a:off x="580448" y="168744"/>
            <a:ext cx="11147191" cy="604507"/>
          </a:xfrm>
          <a:solidFill>
            <a:schemeClr val="accent1">
              <a:lumMod val="75000"/>
            </a:schemeClr>
          </a:solidFill>
        </p:spPr>
        <p:txBody>
          <a:bodyPr>
            <a:noAutofit/>
          </a:bodyPr>
          <a:lstStyle/>
          <a:p>
            <a:r>
              <a:rPr lang="en-US" altLang="zh-CN" sz="3200" dirty="0">
                <a:solidFill>
                  <a:schemeClr val="bg1"/>
                </a:solidFill>
                <a:latin typeface="华文中宋" panose="02010600040101010101" pitchFamily="2" charset="-122"/>
                <a:ea typeface="华文中宋" panose="02010600040101010101" pitchFamily="2" charset="-122"/>
              </a:rPr>
              <a:t>3. </a:t>
            </a:r>
            <a:r>
              <a:rPr lang="zh-CN" altLang="en-US" sz="3200" dirty="0">
                <a:solidFill>
                  <a:schemeClr val="bg1"/>
                </a:solidFill>
                <a:latin typeface="华文中宋" panose="02010600040101010101" pitchFamily="2" charset="-122"/>
                <a:ea typeface="华文中宋" panose="02010600040101010101" pitchFamily="2" charset="-122"/>
              </a:rPr>
              <a:t>实验设计</a:t>
            </a:r>
          </a:p>
        </p:txBody>
      </p:sp>
      <p:sp>
        <p:nvSpPr>
          <p:cNvPr id="3" name="内容占位符 2">
            <a:extLst>
              <a:ext uri="{FF2B5EF4-FFF2-40B4-BE49-F238E27FC236}">
                <a16:creationId xmlns:a16="http://schemas.microsoft.com/office/drawing/2014/main" id="{913C97C5-AA23-D304-9E15-14645A74EA90}"/>
              </a:ext>
            </a:extLst>
          </p:cNvPr>
          <p:cNvSpPr>
            <a:spLocks noGrp="1"/>
          </p:cNvSpPr>
          <p:nvPr>
            <p:ph idx="1"/>
          </p:nvPr>
        </p:nvSpPr>
        <p:spPr>
          <a:xfrm>
            <a:off x="580448" y="941909"/>
            <a:ext cx="11147192" cy="5550945"/>
          </a:xfrm>
          <a:solidFill>
            <a:schemeClr val="accent1">
              <a:lumMod val="40000"/>
              <a:lumOff val="60000"/>
            </a:schemeClr>
          </a:solidFill>
        </p:spPr>
        <p:txBody>
          <a:bodyPr/>
          <a:lstStyle/>
          <a:p>
            <a:endParaRPr lang="en-US" altLang="zh-CN" sz="2400" dirty="0"/>
          </a:p>
          <a:p>
            <a:endParaRPr lang="zh-CN" altLang="en-US" sz="2400" dirty="0"/>
          </a:p>
        </p:txBody>
      </p:sp>
      <p:sp>
        <p:nvSpPr>
          <p:cNvPr id="7" name="文本框 6">
            <a:extLst>
              <a:ext uri="{FF2B5EF4-FFF2-40B4-BE49-F238E27FC236}">
                <a16:creationId xmlns:a16="http://schemas.microsoft.com/office/drawing/2014/main" id="{89698F0F-A68D-79F7-80CA-3FC2712E208F}"/>
              </a:ext>
            </a:extLst>
          </p:cNvPr>
          <p:cNvSpPr txBox="1"/>
          <p:nvPr/>
        </p:nvSpPr>
        <p:spPr>
          <a:xfrm>
            <a:off x="958849" y="1200150"/>
            <a:ext cx="9550401" cy="1422954"/>
          </a:xfrm>
          <a:prstGeom prst="rect">
            <a:avLst/>
          </a:prstGeom>
          <a:noFill/>
        </p:spPr>
        <p:txBody>
          <a:bodyPr wrap="square" rtlCol="0">
            <a:spAutoFit/>
          </a:bodyPr>
          <a:lstStyle/>
          <a:p>
            <a:pPr>
              <a:lnSpc>
                <a:spcPct val="150000"/>
              </a:lnSpc>
            </a:pPr>
            <a:r>
              <a:rPr lang="en-US" altLang="zh-CN" sz="2000" b="1" dirty="0">
                <a:latin typeface="微软雅黑" panose="020B0503020204020204" pitchFamily="34" charset="-122"/>
                <a:ea typeface="微软雅黑" panose="020B0503020204020204" pitchFamily="34" charset="-122"/>
              </a:rPr>
              <a:t>3.1 </a:t>
            </a:r>
            <a:r>
              <a:rPr lang="zh-CN" altLang="en-US" sz="2000" b="1" dirty="0">
                <a:latin typeface="微软雅黑" panose="020B0503020204020204" pitchFamily="34" charset="-122"/>
                <a:ea typeface="微软雅黑" panose="020B0503020204020204" pitchFamily="34" charset="-122"/>
              </a:rPr>
              <a:t>实验流程图</a:t>
            </a: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5BB6C19F-C2E5-E68A-4296-8D435F286C28}"/>
              </a:ext>
            </a:extLst>
          </p:cNvPr>
          <p:cNvPicPr>
            <a:picLocks noChangeAspect="1"/>
          </p:cNvPicPr>
          <p:nvPr/>
        </p:nvPicPr>
        <p:blipFill>
          <a:blip r:embed="rId2"/>
          <a:stretch>
            <a:fillRect/>
          </a:stretch>
        </p:blipFill>
        <p:spPr>
          <a:xfrm>
            <a:off x="1368425" y="1988149"/>
            <a:ext cx="9455150" cy="3805395"/>
          </a:xfrm>
          <a:prstGeom prst="rect">
            <a:avLst/>
          </a:prstGeom>
        </p:spPr>
      </p:pic>
    </p:spTree>
    <p:extLst>
      <p:ext uri="{BB962C8B-B14F-4D97-AF65-F5344CB8AC3E}">
        <p14:creationId xmlns:p14="http://schemas.microsoft.com/office/powerpoint/2010/main" val="2654334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E986F-E637-B45E-A3BA-38F6DAB1FF9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2E0D32F-2339-D9DE-0F7B-45E395F2AE07}"/>
              </a:ext>
            </a:extLst>
          </p:cNvPr>
          <p:cNvSpPr>
            <a:spLocks noGrp="1"/>
          </p:cNvSpPr>
          <p:nvPr>
            <p:ph type="title"/>
          </p:nvPr>
        </p:nvSpPr>
        <p:spPr>
          <a:xfrm>
            <a:off x="580448" y="168744"/>
            <a:ext cx="11147191" cy="604507"/>
          </a:xfrm>
          <a:solidFill>
            <a:schemeClr val="accent1">
              <a:lumMod val="75000"/>
            </a:schemeClr>
          </a:solidFill>
        </p:spPr>
        <p:txBody>
          <a:bodyPr>
            <a:noAutofit/>
          </a:bodyPr>
          <a:lstStyle/>
          <a:p>
            <a:r>
              <a:rPr lang="en-US" altLang="zh-CN" sz="3200" dirty="0">
                <a:solidFill>
                  <a:schemeClr val="bg1"/>
                </a:solidFill>
                <a:latin typeface="华文中宋" panose="02010600040101010101" pitchFamily="2" charset="-122"/>
                <a:ea typeface="华文中宋" panose="02010600040101010101" pitchFamily="2" charset="-122"/>
              </a:rPr>
              <a:t>3. </a:t>
            </a:r>
            <a:r>
              <a:rPr lang="zh-CN" altLang="en-US" sz="3200" dirty="0">
                <a:solidFill>
                  <a:schemeClr val="bg1"/>
                </a:solidFill>
                <a:latin typeface="华文中宋" panose="02010600040101010101" pitchFamily="2" charset="-122"/>
                <a:ea typeface="华文中宋" panose="02010600040101010101" pitchFamily="2" charset="-122"/>
              </a:rPr>
              <a:t>实验设计</a:t>
            </a:r>
          </a:p>
        </p:txBody>
      </p:sp>
      <p:sp>
        <p:nvSpPr>
          <p:cNvPr id="3" name="内容占位符 2">
            <a:extLst>
              <a:ext uri="{FF2B5EF4-FFF2-40B4-BE49-F238E27FC236}">
                <a16:creationId xmlns:a16="http://schemas.microsoft.com/office/drawing/2014/main" id="{B49D8D09-B70A-28BF-506C-5168BC1E466C}"/>
              </a:ext>
            </a:extLst>
          </p:cNvPr>
          <p:cNvSpPr>
            <a:spLocks noGrp="1"/>
          </p:cNvSpPr>
          <p:nvPr>
            <p:ph idx="1"/>
          </p:nvPr>
        </p:nvSpPr>
        <p:spPr>
          <a:xfrm>
            <a:off x="580448" y="941909"/>
            <a:ext cx="11147192" cy="5550945"/>
          </a:xfrm>
          <a:solidFill>
            <a:schemeClr val="accent1">
              <a:lumMod val="40000"/>
              <a:lumOff val="60000"/>
            </a:schemeClr>
          </a:solidFill>
        </p:spPr>
        <p:txBody>
          <a:bodyPr/>
          <a:lstStyle/>
          <a:p>
            <a:endParaRPr lang="en-US" altLang="zh-CN" sz="2400" dirty="0"/>
          </a:p>
          <a:p>
            <a:endParaRPr lang="zh-CN" altLang="en-US" sz="2400" dirty="0"/>
          </a:p>
        </p:txBody>
      </p:sp>
      <p:sp>
        <p:nvSpPr>
          <p:cNvPr id="7" name="文本框 6">
            <a:extLst>
              <a:ext uri="{FF2B5EF4-FFF2-40B4-BE49-F238E27FC236}">
                <a16:creationId xmlns:a16="http://schemas.microsoft.com/office/drawing/2014/main" id="{51872052-E945-CA3F-FEE2-9AAE8C53DABE}"/>
              </a:ext>
            </a:extLst>
          </p:cNvPr>
          <p:cNvSpPr txBox="1"/>
          <p:nvPr/>
        </p:nvSpPr>
        <p:spPr>
          <a:xfrm>
            <a:off x="958849" y="1200150"/>
            <a:ext cx="9550401" cy="4192943"/>
          </a:xfrm>
          <a:prstGeom prst="rect">
            <a:avLst/>
          </a:prstGeom>
          <a:noFill/>
        </p:spPr>
        <p:txBody>
          <a:bodyPr wrap="square" rtlCol="0">
            <a:spAutoFit/>
          </a:bodyPr>
          <a:lstStyle/>
          <a:p>
            <a:pPr>
              <a:lnSpc>
                <a:spcPct val="150000"/>
              </a:lnSpc>
            </a:pPr>
            <a:r>
              <a:rPr lang="en-US" altLang="zh-CN" sz="2000" b="1" dirty="0">
                <a:latin typeface="微软雅黑" panose="020B0503020204020204" pitchFamily="34" charset="-122"/>
                <a:ea typeface="微软雅黑" panose="020B0503020204020204" pitchFamily="34" charset="-122"/>
              </a:rPr>
              <a:t>3.2 </a:t>
            </a:r>
            <a:r>
              <a:rPr lang="zh-CN" altLang="en-US" sz="2000" b="1" dirty="0">
                <a:latin typeface="微软雅黑" panose="020B0503020204020204" pitchFamily="34" charset="-122"/>
                <a:ea typeface="微软雅黑" panose="020B0503020204020204" pitchFamily="34" charset="-122"/>
              </a:rPr>
              <a:t>参数设置</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DQN </a:t>
            </a:r>
            <a:r>
              <a:rPr lang="zh-CN" altLang="en-US" sz="2000" b="1" dirty="0">
                <a:latin typeface="微软雅黑" panose="020B0503020204020204" pitchFamily="34" charset="-122"/>
                <a:ea typeface="微软雅黑" panose="020B0503020204020204" pitchFamily="34" charset="-122"/>
              </a:rPr>
              <a:t>参数设置：</a:t>
            </a: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D3QN </a:t>
            </a:r>
            <a:r>
              <a:rPr lang="zh-CN" altLang="en-US" sz="2000" b="1" dirty="0">
                <a:latin typeface="微软雅黑" panose="020B0503020204020204" pitchFamily="34" charset="-122"/>
                <a:ea typeface="微软雅黑" panose="020B0503020204020204" pitchFamily="34" charset="-122"/>
              </a:rPr>
              <a:t>参数设置：</a:t>
            </a: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p:txBody>
      </p:sp>
      <p:graphicFrame>
        <p:nvGraphicFramePr>
          <p:cNvPr id="4" name="表格 3">
            <a:extLst>
              <a:ext uri="{FF2B5EF4-FFF2-40B4-BE49-F238E27FC236}">
                <a16:creationId xmlns:a16="http://schemas.microsoft.com/office/drawing/2014/main" id="{BE8183BB-0AF7-D29A-481E-225A11F4B384}"/>
              </a:ext>
            </a:extLst>
          </p:cNvPr>
          <p:cNvGraphicFramePr>
            <a:graphicFrameLocks noGrp="1"/>
          </p:cNvGraphicFramePr>
          <p:nvPr>
            <p:extLst>
              <p:ext uri="{D42A27DB-BD31-4B8C-83A1-F6EECF244321}">
                <p14:modId xmlns:p14="http://schemas.microsoft.com/office/powerpoint/2010/main" val="861336153"/>
              </p:ext>
            </p:extLst>
          </p:nvPr>
        </p:nvGraphicFramePr>
        <p:xfrm>
          <a:off x="4044950" y="1400225"/>
          <a:ext cx="6464300" cy="1649485"/>
        </p:xfrm>
        <a:graphic>
          <a:graphicData uri="http://schemas.openxmlformats.org/drawingml/2006/table">
            <a:tbl>
              <a:tblPr firstRow="1" firstCol="1" bandRow="1">
                <a:tableStyleId>{5FD0F851-EC5A-4D38-B0AD-8093EC10F338}</a:tableStyleId>
              </a:tblPr>
              <a:tblGrid>
                <a:gridCol w="2460505">
                  <a:extLst>
                    <a:ext uri="{9D8B030D-6E8A-4147-A177-3AD203B41FA5}">
                      <a16:colId xmlns:a16="http://schemas.microsoft.com/office/drawing/2014/main" val="1423150862"/>
                    </a:ext>
                  </a:extLst>
                </a:gridCol>
                <a:gridCol w="893551">
                  <a:extLst>
                    <a:ext uri="{9D8B030D-6E8A-4147-A177-3AD203B41FA5}">
                      <a16:colId xmlns:a16="http://schemas.microsoft.com/office/drawing/2014/main" val="2521946269"/>
                    </a:ext>
                  </a:extLst>
                </a:gridCol>
                <a:gridCol w="2216693">
                  <a:extLst>
                    <a:ext uri="{9D8B030D-6E8A-4147-A177-3AD203B41FA5}">
                      <a16:colId xmlns:a16="http://schemas.microsoft.com/office/drawing/2014/main" val="941130166"/>
                    </a:ext>
                  </a:extLst>
                </a:gridCol>
                <a:gridCol w="893551">
                  <a:extLst>
                    <a:ext uri="{9D8B030D-6E8A-4147-A177-3AD203B41FA5}">
                      <a16:colId xmlns:a16="http://schemas.microsoft.com/office/drawing/2014/main" val="408475541"/>
                    </a:ext>
                  </a:extLst>
                </a:gridCol>
              </a:tblGrid>
              <a:tr h="234887">
                <a:tc>
                  <a:txBody>
                    <a:bodyPr/>
                    <a:lstStyle/>
                    <a:p>
                      <a:pPr algn="ctr">
                        <a:buNone/>
                      </a:pPr>
                      <a:r>
                        <a:rPr lang="en-US" sz="1600" b="0" kern="0" dirty="0">
                          <a:effectLst/>
                          <a:latin typeface="Times New Roman" panose="02020603050405020304" pitchFamily="18" charset="0"/>
                          <a:cs typeface="Times New Roman" panose="02020603050405020304" pitchFamily="18" charset="0"/>
                        </a:rPr>
                        <a:t>Parameter</a:t>
                      </a:r>
                      <a:endParaRPr lang="zh-CN" sz="1600" b="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a:effectLst/>
                          <a:latin typeface="Times New Roman" panose="02020603050405020304" pitchFamily="18" charset="0"/>
                          <a:cs typeface="Times New Roman" panose="02020603050405020304" pitchFamily="18" charset="0"/>
                        </a:rPr>
                        <a:t>Value</a:t>
                      </a:r>
                      <a:endParaRPr lang="zh-CN" sz="1600" b="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dirty="0">
                          <a:effectLst/>
                          <a:latin typeface="Times New Roman" panose="02020603050405020304" pitchFamily="18" charset="0"/>
                          <a:cs typeface="Times New Roman" panose="02020603050405020304" pitchFamily="18" charset="0"/>
                        </a:rPr>
                        <a:t>Parameter</a:t>
                      </a:r>
                      <a:endParaRPr lang="zh-CN" sz="1600" b="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a:effectLst/>
                          <a:latin typeface="Times New Roman" panose="02020603050405020304" pitchFamily="18" charset="0"/>
                          <a:cs typeface="Times New Roman" panose="02020603050405020304" pitchFamily="18" charset="0"/>
                        </a:rPr>
                        <a:t>Value</a:t>
                      </a:r>
                      <a:endParaRPr lang="zh-CN" sz="1600" b="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40995218"/>
                  </a:ext>
                </a:extLst>
              </a:tr>
              <a:tr h="234887">
                <a:tc>
                  <a:txBody>
                    <a:bodyPr/>
                    <a:lstStyle/>
                    <a:p>
                      <a:pPr algn="ctr">
                        <a:buNone/>
                      </a:pPr>
                      <a:r>
                        <a:rPr lang="en-US" sz="1600" b="0" kern="0" dirty="0">
                          <a:effectLst/>
                          <a:latin typeface="Times New Roman" panose="02020603050405020304" pitchFamily="18" charset="0"/>
                          <a:cs typeface="Times New Roman" panose="02020603050405020304" pitchFamily="18" charset="0"/>
                        </a:rPr>
                        <a:t>Discount factor</a:t>
                      </a:r>
                      <a:endParaRPr lang="zh-CN" sz="1600" b="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a:effectLst/>
                          <a:latin typeface="Times New Roman" panose="02020603050405020304" pitchFamily="18" charset="0"/>
                          <a:cs typeface="Times New Roman" panose="02020603050405020304" pitchFamily="18" charset="0"/>
                        </a:rPr>
                        <a:t>0.75</a:t>
                      </a:r>
                      <a:endParaRPr lang="zh-CN" sz="1600" b="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a:effectLst/>
                          <a:latin typeface="Times New Roman" panose="02020603050405020304" pitchFamily="18" charset="0"/>
                          <a:cs typeface="Times New Roman" panose="02020603050405020304" pitchFamily="18" charset="0"/>
                        </a:rPr>
                        <a:t>minimum ε</a:t>
                      </a:r>
                      <a:endParaRPr lang="zh-CN" sz="1600" b="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a:effectLst/>
                          <a:latin typeface="Times New Roman" panose="02020603050405020304" pitchFamily="18" charset="0"/>
                          <a:cs typeface="Times New Roman" panose="02020603050405020304" pitchFamily="18" charset="0"/>
                        </a:rPr>
                        <a:t>0.1</a:t>
                      </a:r>
                      <a:endParaRPr lang="zh-CN" sz="1600" b="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57090156"/>
                  </a:ext>
                </a:extLst>
              </a:tr>
              <a:tr h="234887">
                <a:tc>
                  <a:txBody>
                    <a:bodyPr/>
                    <a:lstStyle/>
                    <a:p>
                      <a:pPr algn="ctr">
                        <a:buNone/>
                      </a:pPr>
                      <a:r>
                        <a:rPr lang="en-US" sz="1600" b="0" kern="0" dirty="0">
                          <a:effectLst/>
                          <a:latin typeface="Times New Roman" panose="02020603050405020304" pitchFamily="18" charset="0"/>
                          <a:cs typeface="Times New Roman" panose="02020603050405020304" pitchFamily="18" charset="0"/>
                        </a:rPr>
                        <a:t>Learning rate </a:t>
                      </a:r>
                      <a:r>
                        <a:rPr lang="en-US" sz="1600" b="0" kern="0" dirty="0" err="1">
                          <a:effectLst/>
                          <a:latin typeface="Times New Roman" panose="02020603050405020304" pitchFamily="18" charset="0"/>
                          <a:cs typeface="Times New Roman" panose="02020603050405020304" pitchFamily="18" charset="0"/>
                        </a:rPr>
                        <a:t>lr</a:t>
                      </a:r>
                      <a:endParaRPr lang="zh-CN" sz="1600" b="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a:effectLst/>
                          <a:latin typeface="Times New Roman" panose="02020603050405020304" pitchFamily="18" charset="0"/>
                          <a:cs typeface="Times New Roman" panose="02020603050405020304" pitchFamily="18" charset="0"/>
                        </a:rPr>
                        <a:t>0.001</a:t>
                      </a:r>
                      <a:endParaRPr lang="zh-CN" sz="1600" b="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a:effectLst/>
                          <a:latin typeface="Times New Roman" panose="02020603050405020304" pitchFamily="18" charset="0"/>
                          <a:cs typeface="Times New Roman" panose="02020603050405020304" pitchFamily="18" charset="0"/>
                        </a:rPr>
                        <a:t>maximum ε</a:t>
                      </a:r>
                      <a:endParaRPr lang="zh-CN" sz="1600" b="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a:effectLst/>
                          <a:latin typeface="Times New Roman" panose="02020603050405020304" pitchFamily="18" charset="0"/>
                          <a:cs typeface="Times New Roman" panose="02020603050405020304" pitchFamily="18" charset="0"/>
                        </a:rPr>
                        <a:t>1</a:t>
                      </a:r>
                      <a:endParaRPr lang="zh-CN" sz="1600" b="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57761103"/>
                  </a:ext>
                </a:extLst>
              </a:tr>
              <a:tr h="430285">
                <a:tc>
                  <a:txBody>
                    <a:bodyPr/>
                    <a:lstStyle/>
                    <a:p>
                      <a:pPr algn="ctr">
                        <a:buNone/>
                      </a:pPr>
                      <a:r>
                        <a:rPr lang="en-US" sz="1600" b="0" kern="0" dirty="0">
                          <a:effectLst/>
                          <a:latin typeface="Times New Roman" panose="02020603050405020304" pitchFamily="18" charset="0"/>
                          <a:cs typeface="Times New Roman" panose="02020603050405020304" pitchFamily="18" charset="0"/>
                        </a:rPr>
                        <a:t>Target network update </a:t>
                      </a:r>
                      <a:r>
                        <a:rPr lang="en-US" sz="1600" b="0" kern="0" dirty="0" err="1">
                          <a:effectLst/>
                          <a:latin typeface="Times New Roman" panose="02020603050405020304" pitchFamily="18" charset="0"/>
                          <a:cs typeface="Times New Roman" panose="02020603050405020304" pitchFamily="18" charset="0"/>
                        </a:rPr>
                        <a:t>freq</a:t>
                      </a:r>
                      <a:endParaRPr lang="zh-CN" sz="1600" b="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dirty="0">
                          <a:effectLst/>
                          <a:latin typeface="Times New Roman" panose="02020603050405020304" pitchFamily="18" charset="0"/>
                          <a:cs typeface="Times New Roman" panose="02020603050405020304" pitchFamily="18" charset="0"/>
                        </a:rPr>
                        <a:t>1000</a:t>
                      </a:r>
                      <a:endParaRPr lang="zh-CN" sz="1600" b="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a:effectLst/>
                          <a:latin typeface="Times New Roman" panose="02020603050405020304" pitchFamily="18" charset="0"/>
                          <a:cs typeface="Times New Roman" panose="02020603050405020304" pitchFamily="18" charset="0"/>
                        </a:rPr>
                        <a:t>episode decay</a:t>
                      </a:r>
                      <a:endParaRPr lang="zh-CN" sz="1600" b="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a:effectLst/>
                          <a:latin typeface="Times New Roman" panose="02020603050405020304" pitchFamily="18" charset="0"/>
                          <a:cs typeface="Times New Roman" panose="02020603050405020304" pitchFamily="18" charset="0"/>
                        </a:rPr>
                        <a:t>83000</a:t>
                      </a:r>
                      <a:endParaRPr lang="zh-CN" sz="1600" b="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01354376"/>
                  </a:ext>
                </a:extLst>
              </a:tr>
              <a:tr h="234887">
                <a:tc>
                  <a:txBody>
                    <a:bodyPr/>
                    <a:lstStyle/>
                    <a:p>
                      <a:pPr algn="ctr">
                        <a:buNone/>
                      </a:pPr>
                      <a:r>
                        <a:rPr lang="en-US" sz="1600" b="0" kern="0" dirty="0">
                          <a:effectLst/>
                          <a:latin typeface="Times New Roman" panose="02020603050405020304" pitchFamily="18" charset="0"/>
                          <a:cs typeface="Times New Roman" panose="02020603050405020304" pitchFamily="18" charset="0"/>
                        </a:rPr>
                        <a:t>Batch size</a:t>
                      </a:r>
                      <a:endParaRPr lang="zh-CN" sz="1600" b="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dirty="0">
                          <a:effectLst/>
                          <a:latin typeface="Times New Roman" panose="02020603050405020304" pitchFamily="18" charset="0"/>
                          <a:cs typeface="Times New Roman" panose="02020603050405020304" pitchFamily="18" charset="0"/>
                        </a:rPr>
                        <a:t>100</a:t>
                      </a:r>
                      <a:endParaRPr lang="zh-CN" sz="1600" b="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dirty="0">
                          <a:effectLst/>
                          <a:latin typeface="Times New Roman" panose="02020603050405020304" pitchFamily="18" charset="0"/>
                          <a:cs typeface="Times New Roman" panose="02020603050405020304" pitchFamily="18" charset="0"/>
                        </a:rPr>
                        <a:t>Experience pool capacity </a:t>
                      </a:r>
                      <a:endParaRPr lang="zh-CN" sz="1600" b="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a:effectLst/>
                          <a:latin typeface="Times New Roman" panose="02020603050405020304" pitchFamily="18" charset="0"/>
                          <a:cs typeface="Times New Roman" panose="02020603050405020304" pitchFamily="18" charset="0"/>
                        </a:rPr>
                        <a:t>50000</a:t>
                      </a:r>
                      <a:endParaRPr lang="zh-CN" sz="1600" b="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587139905"/>
                  </a:ext>
                </a:extLst>
              </a:tr>
              <a:tr h="234887">
                <a:tc>
                  <a:txBody>
                    <a:bodyPr/>
                    <a:lstStyle/>
                    <a:p>
                      <a:pPr algn="ctr">
                        <a:buNone/>
                      </a:pPr>
                      <a:r>
                        <a:rPr lang="en-US" sz="1600" b="0" kern="0" dirty="0">
                          <a:effectLst/>
                          <a:latin typeface="Times New Roman" panose="02020603050405020304" pitchFamily="18" charset="0"/>
                          <a:cs typeface="Times New Roman" panose="02020603050405020304" pitchFamily="18" charset="0"/>
                        </a:rPr>
                        <a:t>Number of episodes</a:t>
                      </a:r>
                      <a:endParaRPr lang="zh-CN" sz="1600" b="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dirty="0">
                          <a:effectLst/>
                          <a:latin typeface="Times New Roman" panose="02020603050405020304" pitchFamily="18" charset="0"/>
                          <a:cs typeface="Times New Roman" panose="02020603050405020304" pitchFamily="18" charset="0"/>
                        </a:rPr>
                        <a:t>100</a:t>
                      </a:r>
                      <a:endParaRPr lang="zh-CN" sz="1600" b="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dirty="0">
                          <a:effectLst/>
                          <a:latin typeface="Times New Roman" panose="02020603050405020304" pitchFamily="18" charset="0"/>
                          <a:cs typeface="Times New Roman" panose="02020603050405020304" pitchFamily="18" charset="0"/>
                        </a:rPr>
                        <a:t>Activation</a:t>
                      </a:r>
                      <a:endParaRPr lang="zh-CN" sz="1600" b="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dirty="0" err="1">
                          <a:effectLst/>
                          <a:latin typeface="Times New Roman" panose="02020603050405020304" pitchFamily="18" charset="0"/>
                          <a:cs typeface="Times New Roman" panose="02020603050405020304" pitchFamily="18" charset="0"/>
                        </a:rPr>
                        <a:t>ReLu</a:t>
                      </a:r>
                      <a:endParaRPr lang="zh-CN" sz="1600" b="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12441028"/>
                  </a:ext>
                </a:extLst>
              </a:tr>
            </a:tbl>
          </a:graphicData>
        </a:graphic>
      </p:graphicFrame>
      <p:graphicFrame>
        <p:nvGraphicFramePr>
          <p:cNvPr id="5" name="表格 4">
            <a:extLst>
              <a:ext uri="{FF2B5EF4-FFF2-40B4-BE49-F238E27FC236}">
                <a16:creationId xmlns:a16="http://schemas.microsoft.com/office/drawing/2014/main" id="{A9ACAA2E-A25F-BAD7-2584-01A86BE555F0}"/>
              </a:ext>
            </a:extLst>
          </p:cNvPr>
          <p:cNvGraphicFramePr>
            <a:graphicFrameLocks noGrp="1"/>
          </p:cNvGraphicFramePr>
          <p:nvPr>
            <p:extLst>
              <p:ext uri="{D42A27DB-BD31-4B8C-83A1-F6EECF244321}">
                <p14:modId xmlns:p14="http://schemas.microsoft.com/office/powerpoint/2010/main" val="4056652452"/>
              </p:ext>
            </p:extLst>
          </p:nvPr>
        </p:nvGraphicFramePr>
        <p:xfrm>
          <a:off x="4044949" y="3750895"/>
          <a:ext cx="6464301" cy="2062523"/>
        </p:xfrm>
        <a:graphic>
          <a:graphicData uri="http://schemas.openxmlformats.org/drawingml/2006/table">
            <a:tbl>
              <a:tblPr firstRow="1" firstCol="1" bandRow="1">
                <a:tableStyleId>{3B4B98B0-60AC-42C2-AFA5-B58CD77FA1E5}</a:tableStyleId>
              </a:tblPr>
              <a:tblGrid>
                <a:gridCol w="2500663">
                  <a:extLst>
                    <a:ext uri="{9D8B030D-6E8A-4147-A177-3AD203B41FA5}">
                      <a16:colId xmlns:a16="http://schemas.microsoft.com/office/drawing/2014/main" val="2557791542"/>
                    </a:ext>
                  </a:extLst>
                </a:gridCol>
                <a:gridCol w="884589">
                  <a:extLst>
                    <a:ext uri="{9D8B030D-6E8A-4147-A177-3AD203B41FA5}">
                      <a16:colId xmlns:a16="http://schemas.microsoft.com/office/drawing/2014/main" val="3134539730"/>
                    </a:ext>
                  </a:extLst>
                </a:gridCol>
                <a:gridCol w="2194460">
                  <a:extLst>
                    <a:ext uri="{9D8B030D-6E8A-4147-A177-3AD203B41FA5}">
                      <a16:colId xmlns:a16="http://schemas.microsoft.com/office/drawing/2014/main" val="1729707993"/>
                    </a:ext>
                  </a:extLst>
                </a:gridCol>
                <a:gridCol w="884589">
                  <a:extLst>
                    <a:ext uri="{9D8B030D-6E8A-4147-A177-3AD203B41FA5}">
                      <a16:colId xmlns:a16="http://schemas.microsoft.com/office/drawing/2014/main" val="1713647247"/>
                    </a:ext>
                  </a:extLst>
                </a:gridCol>
              </a:tblGrid>
              <a:tr h="228627">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Parameter</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a:solidFill>
                            <a:schemeClr val="tx1"/>
                          </a:solidFill>
                          <a:effectLst/>
                          <a:latin typeface="Times New Roman" panose="02020603050405020304" pitchFamily="18" charset="0"/>
                          <a:cs typeface="Times New Roman" panose="02020603050405020304" pitchFamily="18" charset="0"/>
                        </a:rPr>
                        <a:t>Value</a:t>
                      </a:r>
                      <a:endParaRPr lang="zh-CN" altLang="en-US" sz="1600" b="0" kern="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a:solidFill>
                            <a:schemeClr val="tx1"/>
                          </a:solidFill>
                          <a:effectLst/>
                          <a:latin typeface="Times New Roman" panose="02020603050405020304" pitchFamily="18" charset="0"/>
                          <a:cs typeface="Times New Roman" panose="02020603050405020304" pitchFamily="18" charset="0"/>
                        </a:rPr>
                        <a:t>Parameter</a:t>
                      </a:r>
                      <a:endParaRPr lang="zh-CN" altLang="en-US" sz="1600" b="0" kern="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Value</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2181428606"/>
                  </a:ext>
                </a:extLst>
              </a:tr>
              <a:tr h="228627">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Discount factor</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0.95</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a:solidFill>
                            <a:schemeClr val="tx1"/>
                          </a:solidFill>
                          <a:effectLst/>
                          <a:latin typeface="Times New Roman" panose="02020603050405020304" pitchFamily="18" charset="0"/>
                          <a:cs typeface="Times New Roman" panose="02020603050405020304" pitchFamily="18" charset="0"/>
                        </a:rPr>
                        <a:t>minimum ε</a:t>
                      </a:r>
                      <a:endParaRPr lang="zh-CN" altLang="en-US" sz="1600" b="0" kern="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0.05</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324487573"/>
                  </a:ext>
                </a:extLst>
              </a:tr>
              <a:tr h="228627">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Learning rate </a:t>
                      </a:r>
                      <a:r>
                        <a:rPr lang="en-US" sz="1600" b="0" kern="0" dirty="0" err="1">
                          <a:solidFill>
                            <a:schemeClr val="tx1"/>
                          </a:solidFill>
                          <a:effectLst/>
                          <a:latin typeface="Times New Roman" panose="02020603050405020304" pitchFamily="18" charset="0"/>
                          <a:cs typeface="Times New Roman" panose="02020603050405020304" pitchFamily="18" charset="0"/>
                        </a:rPr>
                        <a:t>lr</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a:solidFill>
                            <a:schemeClr val="tx1"/>
                          </a:solidFill>
                          <a:effectLst/>
                          <a:latin typeface="Times New Roman" panose="02020603050405020304" pitchFamily="18" charset="0"/>
                          <a:cs typeface="Times New Roman" panose="02020603050405020304" pitchFamily="18" charset="0"/>
                        </a:rPr>
                        <a:t>0.0003</a:t>
                      </a:r>
                      <a:endParaRPr lang="zh-CN" altLang="en-US" sz="1600" b="0" kern="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maximum ε</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1</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2099460050"/>
                  </a:ext>
                </a:extLst>
              </a:tr>
              <a:tr h="355643">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Target network update </a:t>
                      </a:r>
                      <a:r>
                        <a:rPr lang="en-US" sz="1600" b="0" kern="0" dirty="0" err="1">
                          <a:solidFill>
                            <a:schemeClr val="tx1"/>
                          </a:solidFill>
                          <a:effectLst/>
                          <a:latin typeface="Times New Roman" panose="02020603050405020304" pitchFamily="18" charset="0"/>
                          <a:cs typeface="Times New Roman" panose="02020603050405020304" pitchFamily="18" charset="0"/>
                        </a:rPr>
                        <a:t>freq</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1000</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decay rate</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0.97</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4104497387"/>
                  </a:ext>
                </a:extLst>
              </a:tr>
              <a:tr h="457254">
                <a:tc>
                  <a:txBody>
                    <a:bodyPr/>
                    <a:lstStyle/>
                    <a:p>
                      <a:pPr marL="0" algn="ctr" defTabSz="914400" rtl="0" eaLnBrk="1" latinLnBrk="0" hangingPunct="1">
                        <a:buNone/>
                      </a:pPr>
                      <a:r>
                        <a:rPr lang="en-US" sz="1600" b="0" kern="0">
                          <a:solidFill>
                            <a:schemeClr val="tx1"/>
                          </a:solidFill>
                          <a:effectLst/>
                          <a:latin typeface="Times New Roman" panose="02020603050405020304" pitchFamily="18" charset="0"/>
                          <a:cs typeface="Times New Roman" panose="02020603050405020304" pitchFamily="18" charset="0"/>
                        </a:rPr>
                        <a:t>Batch size</a:t>
                      </a:r>
                      <a:endParaRPr lang="zh-CN" altLang="en-US" sz="1600" b="0" kern="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96</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Experience pool capacity </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50000</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3892238092"/>
                  </a:ext>
                </a:extLst>
              </a:tr>
              <a:tr h="228627">
                <a:tc>
                  <a:txBody>
                    <a:bodyPr/>
                    <a:lstStyle/>
                    <a:p>
                      <a:pPr marL="0" algn="ctr" defTabSz="914400" rtl="0" eaLnBrk="1" latinLnBrk="0" hangingPunct="1">
                        <a:buNone/>
                      </a:pPr>
                      <a:r>
                        <a:rPr lang="en-US" sz="1600" b="0" kern="0">
                          <a:solidFill>
                            <a:schemeClr val="tx1"/>
                          </a:solidFill>
                          <a:effectLst/>
                          <a:latin typeface="Times New Roman" panose="02020603050405020304" pitchFamily="18" charset="0"/>
                          <a:cs typeface="Times New Roman" panose="02020603050405020304" pitchFamily="18" charset="0"/>
                        </a:rPr>
                        <a:t>Number of episodes</a:t>
                      </a:r>
                      <a:endParaRPr lang="zh-CN" altLang="en-US" sz="1600" b="0" kern="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a:solidFill>
                            <a:schemeClr val="tx1"/>
                          </a:solidFill>
                          <a:effectLst/>
                          <a:latin typeface="Times New Roman" panose="02020603050405020304" pitchFamily="18" charset="0"/>
                          <a:cs typeface="Times New Roman" panose="02020603050405020304" pitchFamily="18" charset="0"/>
                        </a:rPr>
                        <a:t>100</a:t>
                      </a:r>
                      <a:endParaRPr lang="zh-CN" altLang="en-US" sz="1600" b="0" kern="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Activation</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dirty="0" err="1">
                          <a:solidFill>
                            <a:schemeClr val="tx1"/>
                          </a:solidFill>
                          <a:effectLst/>
                          <a:latin typeface="Times New Roman" panose="02020603050405020304" pitchFamily="18" charset="0"/>
                          <a:cs typeface="Times New Roman" panose="02020603050405020304" pitchFamily="18" charset="0"/>
                        </a:rPr>
                        <a:t>ReLu</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3492321640"/>
                  </a:ext>
                </a:extLst>
              </a:tr>
              <a:tr h="228627">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Congestion threshold</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a:solidFill>
                            <a:schemeClr val="tx1"/>
                          </a:solidFill>
                          <a:effectLst/>
                          <a:latin typeface="Times New Roman" panose="02020603050405020304" pitchFamily="18" charset="0"/>
                          <a:cs typeface="Times New Roman" panose="02020603050405020304" pitchFamily="18" charset="0"/>
                        </a:rPr>
                        <a:t>25</a:t>
                      </a:r>
                      <a:endParaRPr lang="zh-CN" altLang="en-US" sz="1600" b="0" kern="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congestion penalty</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algn="ctr" defTabSz="914400" rtl="0" eaLnBrk="1" latinLnBrk="0" hangingPunct="1">
                        <a:buNone/>
                      </a:pPr>
                      <a:r>
                        <a:rPr lang="en-US" sz="1600" b="0" kern="0" dirty="0">
                          <a:solidFill>
                            <a:schemeClr val="tx1"/>
                          </a:solidFill>
                          <a:effectLst/>
                          <a:latin typeface="Times New Roman" panose="02020603050405020304" pitchFamily="18" charset="0"/>
                          <a:cs typeface="Times New Roman" panose="02020603050405020304" pitchFamily="18" charset="0"/>
                        </a:rPr>
                        <a:t>-10</a:t>
                      </a:r>
                      <a:endParaRPr lang="zh-CN" altLang="en-US" sz="1600" b="0" kern="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86813444"/>
                  </a:ext>
                </a:extLst>
              </a:tr>
            </a:tbl>
          </a:graphicData>
        </a:graphic>
      </p:graphicFrame>
    </p:spTree>
    <p:extLst>
      <p:ext uri="{BB962C8B-B14F-4D97-AF65-F5344CB8AC3E}">
        <p14:creationId xmlns:p14="http://schemas.microsoft.com/office/powerpoint/2010/main" val="2941121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18DDA-43CD-C4E0-8CA1-9E245C07F11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850B6B4-A7CF-2997-1DDD-3A2F2884B2DE}"/>
              </a:ext>
            </a:extLst>
          </p:cNvPr>
          <p:cNvSpPr>
            <a:spLocks noGrp="1"/>
          </p:cNvSpPr>
          <p:nvPr>
            <p:ph type="title"/>
          </p:nvPr>
        </p:nvSpPr>
        <p:spPr>
          <a:xfrm>
            <a:off x="580448" y="168744"/>
            <a:ext cx="11147191" cy="604507"/>
          </a:xfrm>
          <a:solidFill>
            <a:schemeClr val="accent1">
              <a:lumMod val="75000"/>
            </a:schemeClr>
          </a:solidFill>
        </p:spPr>
        <p:txBody>
          <a:bodyPr>
            <a:noAutofit/>
          </a:bodyPr>
          <a:lstStyle/>
          <a:p>
            <a:r>
              <a:rPr lang="en-US" altLang="zh-CN" sz="3200" dirty="0">
                <a:solidFill>
                  <a:schemeClr val="bg1"/>
                </a:solidFill>
                <a:latin typeface="华文中宋" panose="02010600040101010101" pitchFamily="2" charset="-122"/>
                <a:ea typeface="华文中宋" panose="02010600040101010101" pitchFamily="2" charset="-122"/>
              </a:rPr>
              <a:t>3. </a:t>
            </a:r>
            <a:r>
              <a:rPr lang="zh-CN" altLang="en-US" sz="3200" dirty="0">
                <a:solidFill>
                  <a:schemeClr val="bg1"/>
                </a:solidFill>
                <a:latin typeface="华文中宋" panose="02010600040101010101" pitchFamily="2" charset="-122"/>
                <a:ea typeface="华文中宋" panose="02010600040101010101" pitchFamily="2" charset="-122"/>
              </a:rPr>
              <a:t>实验设计</a:t>
            </a:r>
          </a:p>
        </p:txBody>
      </p:sp>
      <p:sp>
        <p:nvSpPr>
          <p:cNvPr id="3" name="内容占位符 2">
            <a:extLst>
              <a:ext uri="{FF2B5EF4-FFF2-40B4-BE49-F238E27FC236}">
                <a16:creationId xmlns:a16="http://schemas.microsoft.com/office/drawing/2014/main" id="{B159F1B4-4500-61C5-A69E-D5C7253E0C6C}"/>
              </a:ext>
            </a:extLst>
          </p:cNvPr>
          <p:cNvSpPr>
            <a:spLocks noGrp="1"/>
          </p:cNvSpPr>
          <p:nvPr>
            <p:ph idx="1"/>
          </p:nvPr>
        </p:nvSpPr>
        <p:spPr>
          <a:xfrm>
            <a:off x="580448" y="941909"/>
            <a:ext cx="11147192" cy="5550945"/>
          </a:xfrm>
          <a:solidFill>
            <a:schemeClr val="accent1">
              <a:lumMod val="40000"/>
              <a:lumOff val="60000"/>
            </a:schemeClr>
          </a:solidFill>
        </p:spPr>
        <p:txBody>
          <a:bodyPr/>
          <a:lstStyle/>
          <a:p>
            <a:endParaRPr lang="en-US" altLang="zh-CN" sz="2400" dirty="0"/>
          </a:p>
          <a:p>
            <a:endParaRPr lang="zh-CN" altLang="en-US" sz="2400" dirty="0"/>
          </a:p>
        </p:txBody>
      </p:sp>
      <p:sp>
        <p:nvSpPr>
          <p:cNvPr id="7" name="文本框 6">
            <a:extLst>
              <a:ext uri="{FF2B5EF4-FFF2-40B4-BE49-F238E27FC236}">
                <a16:creationId xmlns:a16="http://schemas.microsoft.com/office/drawing/2014/main" id="{83BC5CA0-56FA-6F7F-4148-C109A5927244}"/>
              </a:ext>
            </a:extLst>
          </p:cNvPr>
          <p:cNvSpPr txBox="1"/>
          <p:nvPr/>
        </p:nvSpPr>
        <p:spPr>
          <a:xfrm>
            <a:off x="958849" y="1200150"/>
            <a:ext cx="9550401" cy="3731278"/>
          </a:xfrm>
          <a:prstGeom prst="rect">
            <a:avLst/>
          </a:prstGeom>
          <a:noFill/>
        </p:spPr>
        <p:txBody>
          <a:bodyPr wrap="square" rtlCol="0">
            <a:spAutoFit/>
          </a:bodyPr>
          <a:lstStyle/>
          <a:p>
            <a:pPr>
              <a:lnSpc>
                <a:spcPct val="150000"/>
              </a:lnSpc>
            </a:pPr>
            <a:r>
              <a:rPr lang="en-US" altLang="zh-CN" sz="2000" b="1" dirty="0">
                <a:latin typeface="微软雅黑" panose="020B0503020204020204" pitchFamily="34" charset="-122"/>
                <a:ea typeface="微软雅黑" panose="020B0503020204020204" pitchFamily="34" charset="-122"/>
              </a:rPr>
              <a:t>3.2 </a:t>
            </a:r>
            <a:r>
              <a:rPr lang="zh-CN" altLang="en-US" sz="2000" b="1" dirty="0">
                <a:latin typeface="微软雅黑" panose="020B0503020204020204" pitchFamily="34" charset="-122"/>
                <a:ea typeface="微软雅黑" panose="020B0503020204020204" pitchFamily="34" charset="-122"/>
              </a:rPr>
              <a:t>参数设置</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PER-D3QN </a:t>
            </a:r>
            <a:r>
              <a:rPr lang="zh-CN" altLang="en-US" sz="2000" b="1" dirty="0">
                <a:latin typeface="微软雅黑" panose="020B0503020204020204" pitchFamily="34" charset="-122"/>
                <a:ea typeface="微软雅黑" panose="020B0503020204020204" pitchFamily="34" charset="-122"/>
              </a:rPr>
              <a:t>参数设置：</a:t>
            </a: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p:txBody>
      </p:sp>
      <p:graphicFrame>
        <p:nvGraphicFramePr>
          <p:cNvPr id="6" name="表格 5">
            <a:extLst>
              <a:ext uri="{FF2B5EF4-FFF2-40B4-BE49-F238E27FC236}">
                <a16:creationId xmlns:a16="http://schemas.microsoft.com/office/drawing/2014/main" id="{36BC5DD9-5F9D-9135-081B-950C0AAFE13F}"/>
              </a:ext>
            </a:extLst>
          </p:cNvPr>
          <p:cNvGraphicFramePr>
            <a:graphicFrameLocks noGrp="1"/>
          </p:cNvGraphicFramePr>
          <p:nvPr>
            <p:extLst>
              <p:ext uri="{D42A27DB-BD31-4B8C-83A1-F6EECF244321}">
                <p14:modId xmlns:p14="http://schemas.microsoft.com/office/powerpoint/2010/main" val="3603573496"/>
              </p:ext>
            </p:extLst>
          </p:nvPr>
        </p:nvGraphicFramePr>
        <p:xfrm>
          <a:off x="2882898" y="2603508"/>
          <a:ext cx="5969002" cy="1987609"/>
        </p:xfrm>
        <a:graphic>
          <a:graphicData uri="http://schemas.openxmlformats.org/drawingml/2006/table">
            <a:tbl>
              <a:tblPr firstRow="1" firstCol="1" bandRow="1">
                <a:tableStyleId>{3B4B98B0-60AC-42C2-AFA5-B58CD77FA1E5}</a:tableStyleId>
              </a:tblPr>
              <a:tblGrid>
                <a:gridCol w="2309061">
                  <a:extLst>
                    <a:ext uri="{9D8B030D-6E8A-4147-A177-3AD203B41FA5}">
                      <a16:colId xmlns:a16="http://schemas.microsoft.com/office/drawing/2014/main" val="2715761187"/>
                    </a:ext>
                  </a:extLst>
                </a:gridCol>
                <a:gridCol w="816811">
                  <a:extLst>
                    <a:ext uri="{9D8B030D-6E8A-4147-A177-3AD203B41FA5}">
                      <a16:colId xmlns:a16="http://schemas.microsoft.com/office/drawing/2014/main" val="454165015"/>
                    </a:ext>
                  </a:extLst>
                </a:gridCol>
                <a:gridCol w="2026319">
                  <a:extLst>
                    <a:ext uri="{9D8B030D-6E8A-4147-A177-3AD203B41FA5}">
                      <a16:colId xmlns:a16="http://schemas.microsoft.com/office/drawing/2014/main" val="2212367507"/>
                    </a:ext>
                  </a:extLst>
                </a:gridCol>
                <a:gridCol w="816811">
                  <a:extLst>
                    <a:ext uri="{9D8B030D-6E8A-4147-A177-3AD203B41FA5}">
                      <a16:colId xmlns:a16="http://schemas.microsoft.com/office/drawing/2014/main" val="3814283942"/>
                    </a:ext>
                  </a:extLst>
                </a:gridCol>
              </a:tblGrid>
              <a:tr h="386011">
                <a:tc>
                  <a:txBody>
                    <a:bodyPr/>
                    <a:lstStyle/>
                    <a:p>
                      <a:pPr algn="ctr">
                        <a:buNone/>
                      </a:pPr>
                      <a:r>
                        <a:rPr lang="en-US" sz="1600" b="0" kern="0" dirty="0">
                          <a:solidFill>
                            <a:schemeClr val="tx1"/>
                          </a:solidFill>
                          <a:effectLst/>
                          <a:latin typeface="Times New Roman" panose="02020603050405020304" pitchFamily="18" charset="0"/>
                          <a:cs typeface="Times New Roman" panose="02020603050405020304" pitchFamily="18" charset="0"/>
                        </a:rPr>
                        <a:t>Parameter</a:t>
                      </a:r>
                      <a:endParaRPr lang="zh-CN" sz="1600" b="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a:solidFill>
                            <a:schemeClr val="tx1"/>
                          </a:solidFill>
                          <a:effectLst/>
                          <a:latin typeface="Times New Roman" panose="02020603050405020304" pitchFamily="18" charset="0"/>
                          <a:cs typeface="Times New Roman" panose="02020603050405020304" pitchFamily="18" charset="0"/>
                        </a:rPr>
                        <a:t>Value</a:t>
                      </a:r>
                      <a:endParaRPr lang="zh-CN" sz="1600" b="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a:solidFill>
                            <a:schemeClr val="tx1"/>
                          </a:solidFill>
                          <a:effectLst/>
                          <a:latin typeface="Times New Roman" panose="02020603050405020304" pitchFamily="18" charset="0"/>
                          <a:cs typeface="Times New Roman" panose="02020603050405020304" pitchFamily="18" charset="0"/>
                        </a:rPr>
                        <a:t>Parameter</a:t>
                      </a:r>
                      <a:endParaRPr lang="zh-CN" sz="1600" b="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a:solidFill>
                            <a:schemeClr val="tx1"/>
                          </a:solidFill>
                          <a:effectLst/>
                          <a:latin typeface="Times New Roman" panose="02020603050405020304" pitchFamily="18" charset="0"/>
                          <a:cs typeface="Times New Roman" panose="02020603050405020304" pitchFamily="18" charset="0"/>
                        </a:rPr>
                        <a:t>Value</a:t>
                      </a:r>
                      <a:endParaRPr lang="zh-CN" sz="1600" b="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269805983"/>
                  </a:ext>
                </a:extLst>
              </a:tr>
              <a:tr h="386011">
                <a:tc>
                  <a:txBody>
                    <a:bodyPr/>
                    <a:lstStyle/>
                    <a:p>
                      <a:pPr algn="ctr">
                        <a:buNone/>
                      </a:pPr>
                      <a:r>
                        <a:rPr lang="en-US" sz="1600" b="0" kern="0">
                          <a:solidFill>
                            <a:schemeClr val="tx1"/>
                          </a:solidFill>
                          <a:effectLst/>
                          <a:latin typeface="Times New Roman" panose="02020603050405020304" pitchFamily="18" charset="0"/>
                          <a:cs typeface="Times New Roman" panose="02020603050405020304" pitchFamily="18" charset="0"/>
                        </a:rPr>
                        <a:t>Priority Clip Max</a:t>
                      </a:r>
                      <a:endParaRPr lang="zh-CN" sz="1600" b="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a:solidFill>
                            <a:schemeClr val="tx1"/>
                          </a:solidFill>
                          <a:effectLst/>
                          <a:latin typeface="Times New Roman" panose="02020603050405020304" pitchFamily="18" charset="0"/>
                          <a:cs typeface="Times New Roman" panose="02020603050405020304" pitchFamily="18" charset="0"/>
                        </a:rPr>
                        <a:t>10</a:t>
                      </a:r>
                      <a:endParaRPr lang="zh-CN" sz="1600" b="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a:solidFill>
                            <a:schemeClr val="tx1"/>
                          </a:solidFill>
                          <a:effectLst/>
                          <a:latin typeface="Times New Roman" panose="02020603050405020304" pitchFamily="18" charset="0"/>
                          <a:cs typeface="Times New Roman" panose="02020603050405020304" pitchFamily="18" charset="0"/>
                        </a:rPr>
                        <a:t>uniform mix ratio</a:t>
                      </a:r>
                      <a:endParaRPr lang="zh-CN" sz="1600" b="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a:solidFill>
                            <a:schemeClr val="tx1"/>
                          </a:solidFill>
                          <a:effectLst/>
                          <a:latin typeface="Times New Roman" panose="02020603050405020304" pitchFamily="18" charset="0"/>
                          <a:cs typeface="Times New Roman" panose="02020603050405020304" pitchFamily="18" charset="0"/>
                        </a:rPr>
                        <a:t>0.2</a:t>
                      </a:r>
                      <a:endParaRPr lang="zh-CN" sz="1600" b="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582888723"/>
                  </a:ext>
                </a:extLst>
              </a:tr>
              <a:tr h="727907">
                <a:tc>
                  <a:txBody>
                    <a:bodyPr/>
                    <a:lstStyle/>
                    <a:p>
                      <a:pPr algn="ctr">
                        <a:buNone/>
                      </a:pPr>
                      <a:r>
                        <a:rPr lang="en-US" sz="1600" b="0" kern="0" dirty="0">
                          <a:solidFill>
                            <a:schemeClr val="tx1"/>
                          </a:solidFill>
                          <a:effectLst/>
                          <a:latin typeface="Times New Roman" panose="02020603050405020304" pitchFamily="18" charset="0"/>
                          <a:cs typeface="Times New Roman" panose="02020603050405020304" pitchFamily="18" charset="0"/>
                        </a:rPr>
                        <a:t>Importance Sampling Exponent</a:t>
                      </a:r>
                      <a:endParaRPr lang="zh-CN" sz="1600" b="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dirty="0">
                          <a:solidFill>
                            <a:schemeClr val="tx1"/>
                          </a:solidFill>
                          <a:effectLst/>
                          <a:latin typeface="Times New Roman" panose="02020603050405020304" pitchFamily="18" charset="0"/>
                          <a:cs typeface="Times New Roman" panose="02020603050405020304" pitchFamily="18" charset="0"/>
                        </a:rPr>
                        <a:t>0.3</a:t>
                      </a:r>
                      <a:endParaRPr lang="zh-CN" sz="1600" b="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dirty="0">
                          <a:solidFill>
                            <a:schemeClr val="tx1"/>
                          </a:solidFill>
                          <a:effectLst/>
                          <a:latin typeface="Times New Roman" panose="02020603050405020304" pitchFamily="18" charset="0"/>
                          <a:cs typeface="Times New Roman" panose="02020603050405020304" pitchFamily="18" charset="0"/>
                        </a:rPr>
                        <a:t>Priority Exponent</a:t>
                      </a:r>
                      <a:endParaRPr lang="zh-CN" sz="1600" b="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a:solidFill>
                            <a:schemeClr val="tx1"/>
                          </a:solidFill>
                          <a:effectLst/>
                          <a:latin typeface="Times New Roman" panose="02020603050405020304" pitchFamily="18" charset="0"/>
                          <a:cs typeface="Times New Roman" panose="02020603050405020304" pitchFamily="18" charset="0"/>
                        </a:rPr>
                        <a:t>0.4</a:t>
                      </a:r>
                      <a:endParaRPr lang="zh-CN" sz="1600" b="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56546667"/>
                  </a:ext>
                </a:extLst>
              </a:tr>
              <a:tr h="386011">
                <a:tc>
                  <a:txBody>
                    <a:bodyPr/>
                    <a:lstStyle/>
                    <a:p>
                      <a:pPr algn="ctr">
                        <a:buNone/>
                      </a:pPr>
                      <a:r>
                        <a:rPr lang="en-US" sz="1600" b="0" kern="0">
                          <a:solidFill>
                            <a:schemeClr val="tx1"/>
                          </a:solidFill>
                          <a:effectLst/>
                          <a:latin typeface="Times New Roman" panose="02020603050405020304" pitchFamily="18" charset="0"/>
                          <a:cs typeface="Times New Roman" panose="02020603050405020304" pitchFamily="18" charset="0"/>
                        </a:rPr>
                        <a:t>Beta Annealing Rate </a:t>
                      </a:r>
                      <a:endParaRPr lang="zh-CN" sz="1600" b="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dirty="0">
                          <a:solidFill>
                            <a:schemeClr val="tx1"/>
                          </a:solidFill>
                          <a:effectLst/>
                          <a:latin typeface="Times New Roman" panose="02020603050405020304" pitchFamily="18" charset="0"/>
                          <a:cs typeface="Times New Roman" panose="02020603050405020304" pitchFamily="18" charset="0"/>
                        </a:rPr>
                        <a:t>0.004</a:t>
                      </a:r>
                      <a:endParaRPr lang="zh-CN" sz="1600" b="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dirty="0">
                          <a:solidFill>
                            <a:schemeClr val="tx1"/>
                          </a:solidFill>
                          <a:effectLst/>
                          <a:latin typeface="Times New Roman" panose="02020603050405020304" pitchFamily="18" charset="0"/>
                          <a:cs typeface="Times New Roman" panose="02020603050405020304" pitchFamily="18" charset="0"/>
                        </a:rPr>
                        <a:t>Minimum Priority</a:t>
                      </a:r>
                      <a:endParaRPr lang="zh-CN" sz="1600" b="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b="0" kern="0" dirty="0">
                          <a:solidFill>
                            <a:schemeClr val="tx1"/>
                          </a:solidFill>
                          <a:effectLst/>
                          <a:latin typeface="Times New Roman" panose="02020603050405020304" pitchFamily="18" charset="0"/>
                          <a:cs typeface="Times New Roman" panose="02020603050405020304" pitchFamily="18" charset="0"/>
                        </a:rPr>
                        <a:t>1.00E-06</a:t>
                      </a:r>
                      <a:endParaRPr lang="zh-CN" sz="1600" b="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98304661"/>
                  </a:ext>
                </a:extLst>
              </a:tr>
            </a:tbl>
          </a:graphicData>
        </a:graphic>
      </p:graphicFrame>
    </p:spTree>
    <p:extLst>
      <p:ext uri="{BB962C8B-B14F-4D97-AF65-F5344CB8AC3E}">
        <p14:creationId xmlns:p14="http://schemas.microsoft.com/office/powerpoint/2010/main" val="926205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2E8F3-6551-B9A0-6467-ABF442D13E8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E3FC3C6-71A0-C59F-6F2E-3A30D5A74B5C}"/>
              </a:ext>
            </a:extLst>
          </p:cNvPr>
          <p:cNvSpPr>
            <a:spLocks noGrp="1"/>
          </p:cNvSpPr>
          <p:nvPr>
            <p:ph type="title"/>
          </p:nvPr>
        </p:nvSpPr>
        <p:spPr>
          <a:xfrm>
            <a:off x="580448" y="168744"/>
            <a:ext cx="11147191" cy="604507"/>
          </a:xfrm>
          <a:solidFill>
            <a:schemeClr val="accent1">
              <a:lumMod val="75000"/>
            </a:schemeClr>
          </a:solidFill>
        </p:spPr>
        <p:txBody>
          <a:bodyPr>
            <a:noAutofit/>
          </a:bodyPr>
          <a:lstStyle/>
          <a:p>
            <a:r>
              <a:rPr lang="en-US" altLang="zh-CN" sz="3200" dirty="0">
                <a:solidFill>
                  <a:schemeClr val="bg1"/>
                </a:solidFill>
                <a:latin typeface="华文中宋" panose="02010600040101010101" pitchFamily="2" charset="-122"/>
                <a:ea typeface="华文中宋" panose="02010600040101010101" pitchFamily="2" charset="-122"/>
              </a:rPr>
              <a:t>4. </a:t>
            </a:r>
            <a:r>
              <a:rPr lang="zh-CN" altLang="en-US" sz="3200" dirty="0">
                <a:solidFill>
                  <a:schemeClr val="bg1"/>
                </a:solidFill>
                <a:latin typeface="华文中宋" panose="02010600040101010101" pitchFamily="2" charset="-122"/>
                <a:ea typeface="华文中宋" panose="02010600040101010101" pitchFamily="2" charset="-122"/>
              </a:rPr>
              <a:t>实验结果分析</a:t>
            </a:r>
          </a:p>
        </p:txBody>
      </p:sp>
      <p:sp>
        <p:nvSpPr>
          <p:cNvPr id="3" name="内容占位符 2">
            <a:extLst>
              <a:ext uri="{FF2B5EF4-FFF2-40B4-BE49-F238E27FC236}">
                <a16:creationId xmlns:a16="http://schemas.microsoft.com/office/drawing/2014/main" id="{1847DADD-C83B-B504-E46D-AAA7310434D5}"/>
              </a:ext>
            </a:extLst>
          </p:cNvPr>
          <p:cNvSpPr>
            <a:spLocks noGrp="1"/>
          </p:cNvSpPr>
          <p:nvPr>
            <p:ph idx="1"/>
          </p:nvPr>
        </p:nvSpPr>
        <p:spPr>
          <a:xfrm>
            <a:off x="580448" y="941909"/>
            <a:ext cx="11147192" cy="5550945"/>
          </a:xfrm>
          <a:solidFill>
            <a:schemeClr val="accent1">
              <a:lumMod val="40000"/>
              <a:lumOff val="60000"/>
            </a:schemeClr>
          </a:solidFill>
        </p:spPr>
        <p:txBody>
          <a:bodyPr/>
          <a:lstStyle/>
          <a:p>
            <a:endParaRPr lang="en-US" altLang="zh-CN" sz="2400" dirty="0"/>
          </a:p>
          <a:p>
            <a:endParaRPr lang="zh-CN" altLang="en-US" sz="2400" dirty="0"/>
          </a:p>
        </p:txBody>
      </p:sp>
      <p:sp>
        <p:nvSpPr>
          <p:cNvPr id="7" name="文本框 6">
            <a:extLst>
              <a:ext uri="{FF2B5EF4-FFF2-40B4-BE49-F238E27FC236}">
                <a16:creationId xmlns:a16="http://schemas.microsoft.com/office/drawing/2014/main" id="{46E82EE1-132F-DB24-A51E-E8E7167E91AC}"/>
              </a:ext>
            </a:extLst>
          </p:cNvPr>
          <p:cNvSpPr txBox="1"/>
          <p:nvPr/>
        </p:nvSpPr>
        <p:spPr>
          <a:xfrm>
            <a:off x="958849" y="1200150"/>
            <a:ext cx="9550401" cy="2807948"/>
          </a:xfrm>
          <a:prstGeom prst="rect">
            <a:avLst/>
          </a:prstGeom>
          <a:noFill/>
        </p:spPr>
        <p:txBody>
          <a:bodyPr wrap="square" rtlCol="0">
            <a:spAutoFit/>
          </a:bodyPr>
          <a:lstStyle/>
          <a:p>
            <a:pPr>
              <a:lnSpc>
                <a:spcPct val="150000"/>
              </a:lnSpc>
            </a:pPr>
            <a:r>
              <a:rPr lang="en-US" altLang="zh-CN" sz="2000" b="1" dirty="0">
                <a:latin typeface="微软雅黑" panose="020B0503020204020204" pitchFamily="34" charset="-122"/>
                <a:ea typeface="微软雅黑" panose="020B0503020204020204" pitchFamily="34" charset="-122"/>
              </a:rPr>
              <a:t>4.1 </a:t>
            </a:r>
            <a:r>
              <a:rPr lang="zh-CN" altLang="en-US" sz="2000" b="1" dirty="0">
                <a:latin typeface="微软雅黑" panose="020B0503020204020204" pitchFamily="34" charset="-122"/>
                <a:ea typeface="微软雅黑" panose="020B0503020204020204" pitchFamily="34" charset="-122"/>
              </a:rPr>
              <a:t>实验一：一般路况</a:t>
            </a:r>
            <a:r>
              <a:rPr lang="en-US" altLang="zh-CN" sz="2000" b="1" dirty="0">
                <a:latin typeface="微软雅黑" panose="020B0503020204020204" pitchFamily="34" charset="-122"/>
                <a:ea typeface="微软雅黑" panose="020B0503020204020204" pitchFamily="34" charset="-122"/>
                <a:sym typeface="Wingdings" panose="05000000000000000000" pitchFamily="2" charset="2"/>
              </a:rPr>
              <a:t>1</a:t>
            </a:r>
            <a:r>
              <a:rPr lang="zh-CN" altLang="en-US" sz="2000" b="1" dirty="0">
                <a:latin typeface="微软雅黑" panose="020B0503020204020204" pitchFamily="34" charset="-122"/>
                <a:ea typeface="微软雅黑" panose="020B0503020204020204" pitchFamily="34" charset="-122"/>
                <a:sym typeface="Wingdings" panose="05000000000000000000" pitchFamily="2" charset="2"/>
              </a:rPr>
              <a:t>条道路封锁</a:t>
            </a: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0BE1A650-2586-9E76-B45A-BBCC11F4B84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0770" y="2121233"/>
            <a:ext cx="3165474" cy="1886865"/>
          </a:xfrm>
          <a:prstGeom prst="rect">
            <a:avLst/>
          </a:prstGeom>
          <a:noFill/>
          <a:ln>
            <a:noFill/>
          </a:ln>
        </p:spPr>
      </p:pic>
      <p:pic>
        <p:nvPicPr>
          <p:cNvPr id="10" name="图片 9">
            <a:extLst>
              <a:ext uri="{FF2B5EF4-FFF2-40B4-BE49-F238E27FC236}">
                <a16:creationId xmlns:a16="http://schemas.microsoft.com/office/drawing/2014/main" id="{7A2FE321-A385-4628-AFA9-19B956CB208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37809" y="2121233"/>
            <a:ext cx="3232468" cy="1926998"/>
          </a:xfrm>
          <a:prstGeom prst="rect">
            <a:avLst/>
          </a:prstGeom>
          <a:noFill/>
          <a:ln>
            <a:noFill/>
          </a:ln>
        </p:spPr>
      </p:pic>
      <p:pic>
        <p:nvPicPr>
          <p:cNvPr id="11" name="图片 10">
            <a:extLst>
              <a:ext uri="{FF2B5EF4-FFF2-40B4-BE49-F238E27FC236}">
                <a16:creationId xmlns:a16="http://schemas.microsoft.com/office/drawing/2014/main" id="{A110477E-F179-E088-E68F-1ABFF8274E4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21650" y="2098971"/>
            <a:ext cx="3314700" cy="1975446"/>
          </a:xfrm>
          <a:prstGeom prst="rect">
            <a:avLst/>
          </a:prstGeom>
          <a:noFill/>
          <a:ln>
            <a:noFill/>
          </a:ln>
        </p:spPr>
      </p:pic>
      <p:sp>
        <p:nvSpPr>
          <p:cNvPr id="12" name="文本框 11">
            <a:extLst>
              <a:ext uri="{FF2B5EF4-FFF2-40B4-BE49-F238E27FC236}">
                <a16:creationId xmlns:a16="http://schemas.microsoft.com/office/drawing/2014/main" id="{9692C6A1-B0AB-7425-E3F3-D9943ABD2F8D}"/>
              </a:ext>
            </a:extLst>
          </p:cNvPr>
          <p:cNvSpPr txBox="1"/>
          <p:nvPr/>
        </p:nvSpPr>
        <p:spPr>
          <a:xfrm>
            <a:off x="4343400" y="4564402"/>
            <a:ext cx="4927600" cy="338554"/>
          </a:xfrm>
          <a:prstGeom prst="rect">
            <a:avLst/>
          </a:prstGeom>
          <a:noFill/>
        </p:spPr>
        <p:txBody>
          <a:bodyPr wrap="square" rtlCol="0">
            <a:spAutoFit/>
          </a:bodyPr>
          <a:lstStyle/>
          <a:p>
            <a:r>
              <a:rPr lang="zh-CN" altLang="en-US" sz="1600" dirty="0">
                <a:latin typeface="华文中宋" panose="02010600040101010101" pitchFamily="2" charset="-122"/>
                <a:ea typeface="华文中宋" panose="02010600040101010101" pitchFamily="2" charset="-122"/>
              </a:rPr>
              <a:t>不同算法在道路封锁突变下的性能对比</a:t>
            </a:r>
          </a:p>
        </p:txBody>
      </p:sp>
      <p:sp>
        <p:nvSpPr>
          <p:cNvPr id="13" name="文本框 12">
            <a:extLst>
              <a:ext uri="{FF2B5EF4-FFF2-40B4-BE49-F238E27FC236}">
                <a16:creationId xmlns:a16="http://schemas.microsoft.com/office/drawing/2014/main" id="{0CF35951-0648-24BC-AF59-AFE5A64E0247}"/>
              </a:ext>
            </a:extLst>
          </p:cNvPr>
          <p:cNvSpPr txBox="1"/>
          <p:nvPr/>
        </p:nvSpPr>
        <p:spPr>
          <a:xfrm>
            <a:off x="9435465" y="4176756"/>
            <a:ext cx="1471930" cy="369332"/>
          </a:xfrm>
          <a:prstGeom prst="rect">
            <a:avLst/>
          </a:prstGeom>
          <a:noFill/>
        </p:spPr>
        <p:txBody>
          <a:bodyPr wrap="square" rtlCol="0">
            <a:spAutoFit/>
          </a:bodyPr>
          <a:lstStyle/>
          <a:p>
            <a:r>
              <a:rPr lang="en-US" altLang="zh-CN" dirty="0">
                <a:latin typeface="华文中宋" panose="02010600040101010101" pitchFamily="2" charset="-122"/>
                <a:ea typeface="华文中宋" panose="02010600040101010101" pitchFamily="2" charset="-122"/>
              </a:rPr>
              <a:t>(c)</a:t>
            </a:r>
            <a:r>
              <a:rPr lang="zh-CN" altLang="en-US" dirty="0">
                <a:latin typeface="华文中宋" panose="02010600040101010101" pitchFamily="2" charset="-122"/>
                <a:ea typeface="华文中宋" panose="02010600040101010101" pitchFamily="2" charset="-122"/>
              </a:rPr>
              <a:t>延迟</a:t>
            </a:r>
          </a:p>
        </p:txBody>
      </p:sp>
      <p:sp>
        <p:nvSpPr>
          <p:cNvPr id="14" name="文本框 13">
            <a:extLst>
              <a:ext uri="{FF2B5EF4-FFF2-40B4-BE49-F238E27FC236}">
                <a16:creationId xmlns:a16="http://schemas.microsoft.com/office/drawing/2014/main" id="{5AF5048D-F5CC-72A7-456A-D9A1A8D2E95D}"/>
              </a:ext>
            </a:extLst>
          </p:cNvPr>
          <p:cNvSpPr txBox="1"/>
          <p:nvPr/>
        </p:nvSpPr>
        <p:spPr>
          <a:xfrm>
            <a:off x="5264179" y="4192764"/>
            <a:ext cx="2106253" cy="369332"/>
          </a:xfrm>
          <a:prstGeom prst="rect">
            <a:avLst/>
          </a:prstGeom>
          <a:noFill/>
        </p:spPr>
        <p:txBody>
          <a:bodyPr wrap="square" rtlCol="0">
            <a:spAutoFit/>
          </a:bodyPr>
          <a:lstStyle/>
          <a:p>
            <a:r>
              <a:rPr lang="en-US" altLang="zh-CN" dirty="0">
                <a:latin typeface="华文中宋" panose="02010600040101010101" pitchFamily="2" charset="-122"/>
                <a:ea typeface="华文中宋" panose="02010600040101010101" pitchFamily="2" charset="-122"/>
              </a:rPr>
              <a:t>(b) </a:t>
            </a:r>
            <a:r>
              <a:rPr lang="zh-CN" altLang="en-US" dirty="0">
                <a:latin typeface="华文中宋" panose="02010600040101010101" pitchFamily="2" charset="-122"/>
                <a:ea typeface="华文中宋" panose="02010600040101010101" pitchFamily="2" charset="-122"/>
              </a:rPr>
              <a:t>平均队列长度</a:t>
            </a:r>
          </a:p>
        </p:txBody>
      </p:sp>
      <p:sp>
        <p:nvSpPr>
          <p:cNvPr id="15" name="文本框 14">
            <a:extLst>
              <a:ext uri="{FF2B5EF4-FFF2-40B4-BE49-F238E27FC236}">
                <a16:creationId xmlns:a16="http://schemas.microsoft.com/office/drawing/2014/main" id="{31A5D672-0A67-AD65-0BD9-8F78880A15C8}"/>
              </a:ext>
            </a:extLst>
          </p:cNvPr>
          <p:cNvSpPr txBox="1"/>
          <p:nvPr/>
        </p:nvSpPr>
        <p:spPr>
          <a:xfrm>
            <a:off x="2020570" y="4192764"/>
            <a:ext cx="1471930" cy="369332"/>
          </a:xfrm>
          <a:prstGeom prst="rect">
            <a:avLst/>
          </a:prstGeom>
          <a:noFill/>
        </p:spPr>
        <p:txBody>
          <a:bodyPr wrap="square" rtlCol="0">
            <a:spAutoFit/>
          </a:bodyPr>
          <a:lstStyle/>
          <a:p>
            <a:r>
              <a:rPr lang="en-US" altLang="zh-CN" dirty="0">
                <a:latin typeface="华文中宋" panose="02010600040101010101" pitchFamily="2" charset="-122"/>
                <a:ea typeface="华文中宋" panose="02010600040101010101" pitchFamily="2" charset="-122"/>
              </a:rPr>
              <a:t>(a) </a:t>
            </a:r>
            <a:r>
              <a:rPr lang="zh-CN" altLang="en-US" dirty="0">
                <a:latin typeface="华文中宋" panose="02010600040101010101" pitchFamily="2" charset="-122"/>
                <a:ea typeface="华文中宋" panose="02010600040101010101" pitchFamily="2" charset="-122"/>
              </a:rPr>
              <a:t>累计奖励</a:t>
            </a:r>
          </a:p>
        </p:txBody>
      </p:sp>
      <p:graphicFrame>
        <p:nvGraphicFramePr>
          <p:cNvPr id="16" name="表格 15">
            <a:extLst>
              <a:ext uri="{FF2B5EF4-FFF2-40B4-BE49-F238E27FC236}">
                <a16:creationId xmlns:a16="http://schemas.microsoft.com/office/drawing/2014/main" id="{0F8AE827-811C-3476-C0CC-DA8ADA499D77}"/>
              </a:ext>
            </a:extLst>
          </p:cNvPr>
          <p:cNvGraphicFramePr>
            <a:graphicFrameLocks noGrp="1"/>
          </p:cNvGraphicFramePr>
          <p:nvPr>
            <p:extLst>
              <p:ext uri="{D42A27DB-BD31-4B8C-83A1-F6EECF244321}">
                <p14:modId xmlns:p14="http://schemas.microsoft.com/office/powerpoint/2010/main" val="1375203842"/>
              </p:ext>
            </p:extLst>
          </p:nvPr>
        </p:nvGraphicFramePr>
        <p:xfrm>
          <a:off x="3230562" y="4995500"/>
          <a:ext cx="5730876" cy="1280160"/>
        </p:xfrm>
        <a:graphic>
          <a:graphicData uri="http://schemas.openxmlformats.org/drawingml/2006/table">
            <a:tbl>
              <a:tblPr firstRow="1" firstCol="1" bandRow="1">
                <a:tableStyleId>{3B4B98B0-60AC-42C2-AFA5-B58CD77FA1E5}</a:tableStyleId>
              </a:tblPr>
              <a:tblGrid>
                <a:gridCol w="1779130">
                  <a:extLst>
                    <a:ext uri="{9D8B030D-6E8A-4147-A177-3AD203B41FA5}">
                      <a16:colId xmlns:a16="http://schemas.microsoft.com/office/drawing/2014/main" val="1179389642"/>
                    </a:ext>
                  </a:extLst>
                </a:gridCol>
                <a:gridCol w="1596022">
                  <a:extLst>
                    <a:ext uri="{9D8B030D-6E8A-4147-A177-3AD203B41FA5}">
                      <a16:colId xmlns:a16="http://schemas.microsoft.com/office/drawing/2014/main" val="519461682"/>
                    </a:ext>
                  </a:extLst>
                </a:gridCol>
                <a:gridCol w="1177862">
                  <a:extLst>
                    <a:ext uri="{9D8B030D-6E8A-4147-A177-3AD203B41FA5}">
                      <a16:colId xmlns:a16="http://schemas.microsoft.com/office/drawing/2014/main" val="701037152"/>
                    </a:ext>
                  </a:extLst>
                </a:gridCol>
                <a:gridCol w="1177862">
                  <a:extLst>
                    <a:ext uri="{9D8B030D-6E8A-4147-A177-3AD203B41FA5}">
                      <a16:colId xmlns:a16="http://schemas.microsoft.com/office/drawing/2014/main" val="2363743409"/>
                    </a:ext>
                  </a:extLst>
                </a:gridCol>
              </a:tblGrid>
              <a:tr h="177800">
                <a:tc rowSpan="2">
                  <a:txBody>
                    <a:bodyPr/>
                    <a:lstStyle/>
                    <a:p>
                      <a:pPr algn="ctr">
                        <a:buNone/>
                      </a:pPr>
                      <a:r>
                        <a:rPr lang="en-US" sz="1400" kern="0" dirty="0">
                          <a:effectLst/>
                          <a:latin typeface="Times New Roman" panose="02020603050405020304" pitchFamily="18" charset="0"/>
                          <a:cs typeface="Times New Roman" panose="02020603050405020304" pitchFamily="18" charset="0"/>
                        </a:rPr>
                        <a:t>Algorithms</a:t>
                      </a:r>
                      <a:endParaRPr lang="zh-CN" sz="12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gridSpan="3">
                  <a:txBody>
                    <a:bodyPr/>
                    <a:lstStyle/>
                    <a:p>
                      <a:pPr algn="ctr">
                        <a:buNone/>
                      </a:pPr>
                      <a:r>
                        <a:rPr lang="en-US" sz="1400" kern="0">
                          <a:effectLst/>
                          <a:latin typeface="Times New Roman" panose="02020603050405020304" pitchFamily="18" charset="0"/>
                          <a:cs typeface="Times New Roman" panose="02020603050405020304" pitchFamily="18" charset="0"/>
                        </a:rPr>
                        <a:t>Normal</a:t>
                      </a:r>
                      <a:r>
                        <a:rPr lang="en-US" sz="1400" kern="0">
                          <a:effectLst/>
                          <a:latin typeface="Times New Roman" panose="02020603050405020304" pitchFamily="18" charset="0"/>
                          <a:cs typeface="Times New Roman" panose="02020603050405020304" pitchFamily="18" charset="0"/>
                          <a:sym typeface="Wingdings" panose="05000000000000000000" pitchFamily="2" charset="2"/>
                        </a:rPr>
                        <a:t></a:t>
                      </a:r>
                      <a:r>
                        <a:rPr lang="en-US" sz="1400" kern="0">
                          <a:effectLst/>
                          <a:latin typeface="Times New Roman" panose="02020603050405020304" pitchFamily="18" charset="0"/>
                          <a:cs typeface="Times New Roman" panose="02020603050405020304" pitchFamily="18" charset="0"/>
                        </a:rPr>
                        <a:t>1 Lane Blockage</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722699844"/>
                  </a:ext>
                </a:extLst>
              </a:tr>
              <a:tr h="177800">
                <a:tc vMerge="1">
                  <a:txBody>
                    <a:bodyPr/>
                    <a:lstStyle/>
                    <a:p>
                      <a:endParaRPr lang="zh-CN" altLang="en-US"/>
                    </a:p>
                  </a:txBody>
                  <a:tcPr/>
                </a:tc>
                <a:tc>
                  <a:txBody>
                    <a:bodyPr/>
                    <a:lstStyle/>
                    <a:p>
                      <a:pPr algn="ctr">
                        <a:buNone/>
                      </a:pPr>
                      <a:r>
                        <a:rPr lang="en-US" sz="1400" kern="0" dirty="0">
                          <a:effectLst/>
                          <a:latin typeface="Times New Roman" panose="02020603050405020304" pitchFamily="18" charset="0"/>
                          <a:cs typeface="Times New Roman" panose="02020603050405020304" pitchFamily="18" charset="0"/>
                        </a:rPr>
                        <a:t>Average queue length</a:t>
                      </a:r>
                      <a:endParaRPr lang="zh-CN" sz="12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400" kern="0">
                          <a:effectLst/>
                          <a:latin typeface="Times New Roman" panose="02020603050405020304" pitchFamily="18" charset="0"/>
                          <a:cs typeface="Times New Roman" panose="02020603050405020304" pitchFamily="18" charset="0"/>
                        </a:rPr>
                        <a:t>rewards</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400" kern="0">
                          <a:effectLst/>
                          <a:latin typeface="Times New Roman" panose="02020603050405020304" pitchFamily="18" charset="0"/>
                          <a:cs typeface="Times New Roman" panose="02020603050405020304" pitchFamily="18" charset="0"/>
                        </a:rPr>
                        <a:t>Delay    </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3904631"/>
                  </a:ext>
                </a:extLst>
              </a:tr>
              <a:tr h="177800">
                <a:tc>
                  <a:txBody>
                    <a:bodyPr/>
                    <a:lstStyle/>
                    <a:p>
                      <a:pPr algn="ctr">
                        <a:buNone/>
                      </a:pPr>
                      <a:r>
                        <a:rPr lang="en-US" sz="1400" kern="0">
                          <a:effectLst/>
                          <a:latin typeface="Times New Roman" panose="02020603050405020304" pitchFamily="18" charset="0"/>
                          <a:cs typeface="Times New Roman" panose="02020603050405020304" pitchFamily="18" charset="0"/>
                        </a:rPr>
                        <a:t>DQN (BaseLine)</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400" kern="0" dirty="0">
                          <a:effectLst/>
                          <a:latin typeface="Times New Roman" panose="02020603050405020304" pitchFamily="18" charset="0"/>
                          <a:cs typeface="Times New Roman" panose="02020603050405020304" pitchFamily="18" charset="0"/>
                        </a:rPr>
                        <a:t>3.93</a:t>
                      </a:r>
                      <a:endParaRPr lang="zh-CN" sz="12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400" kern="0">
                          <a:effectLst/>
                          <a:latin typeface="Times New Roman" panose="02020603050405020304" pitchFamily="18" charset="0"/>
                          <a:cs typeface="Times New Roman" panose="02020603050405020304" pitchFamily="18" charset="0"/>
                        </a:rPr>
                        <a:t>-2.04</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400" kern="0">
                          <a:effectLst/>
                          <a:latin typeface="Times New Roman" panose="02020603050405020304" pitchFamily="18" charset="0"/>
                          <a:cs typeface="Times New Roman" panose="02020603050405020304" pitchFamily="18" charset="0"/>
                        </a:rPr>
                        <a:t>130.29</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344382"/>
                  </a:ext>
                </a:extLst>
              </a:tr>
              <a:tr h="177800">
                <a:tc>
                  <a:txBody>
                    <a:bodyPr/>
                    <a:lstStyle/>
                    <a:p>
                      <a:pPr algn="ctr">
                        <a:buNone/>
                      </a:pPr>
                      <a:r>
                        <a:rPr lang="en-US" sz="1400" kern="0">
                          <a:effectLst/>
                          <a:latin typeface="Times New Roman" panose="02020603050405020304" pitchFamily="18" charset="0"/>
                          <a:cs typeface="Times New Roman" panose="02020603050405020304" pitchFamily="18" charset="0"/>
                        </a:rPr>
                        <a:t>D3QN </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400" kern="0" dirty="0">
                          <a:effectLst/>
                          <a:latin typeface="Times New Roman" panose="02020603050405020304" pitchFamily="18" charset="0"/>
                          <a:cs typeface="Times New Roman" panose="02020603050405020304" pitchFamily="18" charset="0"/>
                        </a:rPr>
                        <a:t>1.36 (↓65%)</a:t>
                      </a:r>
                      <a:endParaRPr lang="zh-CN" sz="12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400" kern="0" dirty="0">
                          <a:effectLst/>
                          <a:latin typeface="Times New Roman" panose="02020603050405020304" pitchFamily="18" charset="0"/>
                          <a:cs typeface="Times New Roman" panose="02020603050405020304" pitchFamily="18" charset="0"/>
                        </a:rPr>
                        <a:t>0</a:t>
                      </a:r>
                      <a:endParaRPr lang="zh-CN" sz="12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400" kern="0" dirty="0">
                          <a:effectLst/>
                          <a:latin typeface="Times New Roman" panose="02020603050405020304" pitchFamily="18" charset="0"/>
                          <a:cs typeface="Times New Roman" panose="02020603050405020304" pitchFamily="18" charset="0"/>
                        </a:rPr>
                        <a:t>23.18 (↓82%)</a:t>
                      </a:r>
                      <a:endParaRPr lang="zh-CN" sz="12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03853708"/>
                  </a:ext>
                </a:extLst>
              </a:tr>
              <a:tr h="177800">
                <a:tc>
                  <a:txBody>
                    <a:bodyPr/>
                    <a:lstStyle/>
                    <a:p>
                      <a:pPr algn="ctr">
                        <a:buNone/>
                      </a:pPr>
                      <a:r>
                        <a:rPr lang="en-US" sz="1400" kern="0">
                          <a:effectLst/>
                          <a:latin typeface="Times New Roman" panose="02020603050405020304" pitchFamily="18" charset="0"/>
                          <a:cs typeface="Times New Roman" panose="02020603050405020304" pitchFamily="18" charset="0"/>
                        </a:rPr>
                        <a:t>PER-D3QN</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400" kern="0">
                          <a:effectLst/>
                          <a:latin typeface="Times New Roman" panose="02020603050405020304" pitchFamily="18" charset="0"/>
                          <a:cs typeface="Times New Roman" panose="02020603050405020304" pitchFamily="18" charset="0"/>
                        </a:rPr>
                        <a:t>1.04 (↓74%)</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400" kern="0" dirty="0">
                          <a:effectLst/>
                          <a:latin typeface="Times New Roman" panose="02020603050405020304" pitchFamily="18" charset="0"/>
                          <a:cs typeface="Times New Roman" panose="02020603050405020304" pitchFamily="18" charset="0"/>
                        </a:rPr>
                        <a:t>0</a:t>
                      </a:r>
                      <a:endParaRPr lang="zh-CN" sz="12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400" kern="0" dirty="0">
                          <a:effectLst/>
                          <a:latin typeface="Times New Roman" panose="02020603050405020304" pitchFamily="18" charset="0"/>
                          <a:cs typeface="Times New Roman" panose="02020603050405020304" pitchFamily="18" charset="0"/>
                        </a:rPr>
                        <a:t>14.43 (↓89%)</a:t>
                      </a:r>
                      <a:endParaRPr lang="zh-CN" sz="12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15773851"/>
                  </a:ext>
                </a:extLst>
              </a:tr>
            </a:tbl>
          </a:graphicData>
        </a:graphic>
      </p:graphicFrame>
    </p:spTree>
    <p:extLst>
      <p:ext uri="{BB962C8B-B14F-4D97-AF65-F5344CB8AC3E}">
        <p14:creationId xmlns:p14="http://schemas.microsoft.com/office/powerpoint/2010/main" val="3719030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20413-CFF2-531A-DD4A-6627E5BE198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D44C010-94A2-3060-32BE-16723EBAEB1C}"/>
              </a:ext>
            </a:extLst>
          </p:cNvPr>
          <p:cNvSpPr>
            <a:spLocks noGrp="1"/>
          </p:cNvSpPr>
          <p:nvPr>
            <p:ph type="title"/>
          </p:nvPr>
        </p:nvSpPr>
        <p:spPr>
          <a:xfrm>
            <a:off x="580448" y="168744"/>
            <a:ext cx="11147191" cy="604507"/>
          </a:xfrm>
          <a:solidFill>
            <a:schemeClr val="accent1">
              <a:lumMod val="75000"/>
            </a:schemeClr>
          </a:solidFill>
        </p:spPr>
        <p:txBody>
          <a:bodyPr>
            <a:noAutofit/>
          </a:bodyPr>
          <a:lstStyle/>
          <a:p>
            <a:r>
              <a:rPr lang="en-US" altLang="zh-CN" sz="3200" dirty="0">
                <a:solidFill>
                  <a:schemeClr val="bg1"/>
                </a:solidFill>
                <a:latin typeface="华文中宋" panose="02010600040101010101" pitchFamily="2" charset="-122"/>
                <a:ea typeface="华文中宋" panose="02010600040101010101" pitchFamily="2" charset="-122"/>
              </a:rPr>
              <a:t>4. </a:t>
            </a:r>
            <a:r>
              <a:rPr lang="zh-CN" altLang="en-US" sz="3200" dirty="0">
                <a:solidFill>
                  <a:schemeClr val="bg1"/>
                </a:solidFill>
                <a:latin typeface="华文中宋" panose="02010600040101010101" pitchFamily="2" charset="-122"/>
                <a:ea typeface="华文中宋" panose="02010600040101010101" pitchFamily="2" charset="-122"/>
              </a:rPr>
              <a:t>实验结果分析</a:t>
            </a:r>
          </a:p>
        </p:txBody>
      </p:sp>
      <p:sp>
        <p:nvSpPr>
          <p:cNvPr id="3" name="内容占位符 2">
            <a:extLst>
              <a:ext uri="{FF2B5EF4-FFF2-40B4-BE49-F238E27FC236}">
                <a16:creationId xmlns:a16="http://schemas.microsoft.com/office/drawing/2014/main" id="{6E9892C0-80F1-9CDE-C1E4-B414ABF38B4C}"/>
              </a:ext>
            </a:extLst>
          </p:cNvPr>
          <p:cNvSpPr>
            <a:spLocks noGrp="1"/>
          </p:cNvSpPr>
          <p:nvPr>
            <p:ph idx="1"/>
          </p:nvPr>
        </p:nvSpPr>
        <p:spPr>
          <a:xfrm>
            <a:off x="580448" y="941909"/>
            <a:ext cx="11147192" cy="5550945"/>
          </a:xfrm>
          <a:solidFill>
            <a:schemeClr val="accent1">
              <a:lumMod val="40000"/>
              <a:lumOff val="60000"/>
            </a:schemeClr>
          </a:solidFill>
        </p:spPr>
        <p:txBody>
          <a:bodyPr/>
          <a:lstStyle/>
          <a:p>
            <a:endParaRPr lang="en-US" altLang="zh-CN" sz="2400" dirty="0"/>
          </a:p>
          <a:p>
            <a:endParaRPr lang="zh-CN" altLang="en-US" sz="2400" dirty="0"/>
          </a:p>
        </p:txBody>
      </p:sp>
      <p:sp>
        <p:nvSpPr>
          <p:cNvPr id="7" name="文本框 6">
            <a:extLst>
              <a:ext uri="{FF2B5EF4-FFF2-40B4-BE49-F238E27FC236}">
                <a16:creationId xmlns:a16="http://schemas.microsoft.com/office/drawing/2014/main" id="{CB4BFA57-0E5B-FF1D-8BE7-3636FBF6544C}"/>
              </a:ext>
            </a:extLst>
          </p:cNvPr>
          <p:cNvSpPr txBox="1"/>
          <p:nvPr/>
        </p:nvSpPr>
        <p:spPr>
          <a:xfrm>
            <a:off x="958849" y="1200150"/>
            <a:ext cx="9550401" cy="2807948"/>
          </a:xfrm>
          <a:prstGeom prst="rect">
            <a:avLst/>
          </a:prstGeom>
          <a:noFill/>
        </p:spPr>
        <p:txBody>
          <a:bodyPr wrap="square" rtlCol="0">
            <a:spAutoFit/>
          </a:bodyPr>
          <a:lstStyle/>
          <a:p>
            <a:pPr>
              <a:lnSpc>
                <a:spcPct val="150000"/>
              </a:lnSpc>
            </a:pPr>
            <a:r>
              <a:rPr lang="en-US" altLang="zh-CN" sz="2000" b="1" dirty="0">
                <a:latin typeface="微软雅黑" panose="020B0503020204020204" pitchFamily="34" charset="-122"/>
                <a:ea typeface="微软雅黑" panose="020B0503020204020204" pitchFamily="34" charset="-122"/>
              </a:rPr>
              <a:t>4.2 </a:t>
            </a:r>
            <a:r>
              <a:rPr lang="zh-CN" altLang="en-US" sz="2000" b="1" dirty="0">
                <a:latin typeface="微软雅黑" panose="020B0503020204020204" pitchFamily="34" charset="-122"/>
                <a:ea typeface="微软雅黑" panose="020B0503020204020204" pitchFamily="34" charset="-122"/>
              </a:rPr>
              <a:t>实验二：一般路况</a:t>
            </a:r>
            <a:r>
              <a:rPr lang="en-US" altLang="zh-CN" sz="2000" b="1"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1" dirty="0">
                <a:latin typeface="微软雅黑" panose="020B0503020204020204" pitchFamily="34" charset="-122"/>
                <a:ea typeface="微软雅黑" panose="020B0503020204020204" pitchFamily="34" charset="-122"/>
                <a:sym typeface="Wingdings" panose="05000000000000000000" pitchFamily="2" charset="2"/>
              </a:rPr>
              <a:t>流量激增</a:t>
            </a: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220814FF-B20C-A2BD-EFAE-0344992B670B}"/>
              </a:ext>
            </a:extLst>
          </p:cNvPr>
          <p:cNvSpPr txBox="1"/>
          <p:nvPr/>
        </p:nvSpPr>
        <p:spPr>
          <a:xfrm>
            <a:off x="4343400" y="4564402"/>
            <a:ext cx="4927600" cy="338554"/>
          </a:xfrm>
          <a:prstGeom prst="rect">
            <a:avLst/>
          </a:prstGeom>
          <a:noFill/>
        </p:spPr>
        <p:txBody>
          <a:bodyPr wrap="square" rtlCol="0">
            <a:spAutoFit/>
          </a:bodyPr>
          <a:lstStyle/>
          <a:p>
            <a:r>
              <a:rPr lang="zh-CN" altLang="en-US" sz="1600" dirty="0">
                <a:latin typeface="华文中宋" panose="02010600040101010101" pitchFamily="2" charset="-122"/>
                <a:ea typeface="华文中宋" panose="02010600040101010101" pitchFamily="2" charset="-122"/>
              </a:rPr>
              <a:t>不同算法在流量激增突变下的性能对比</a:t>
            </a:r>
          </a:p>
        </p:txBody>
      </p:sp>
      <p:sp>
        <p:nvSpPr>
          <p:cNvPr id="13" name="文本框 12">
            <a:extLst>
              <a:ext uri="{FF2B5EF4-FFF2-40B4-BE49-F238E27FC236}">
                <a16:creationId xmlns:a16="http://schemas.microsoft.com/office/drawing/2014/main" id="{6F334952-8A0A-B088-93AD-385D24C3DA6E}"/>
              </a:ext>
            </a:extLst>
          </p:cNvPr>
          <p:cNvSpPr txBox="1"/>
          <p:nvPr/>
        </p:nvSpPr>
        <p:spPr>
          <a:xfrm>
            <a:off x="9435465" y="4176756"/>
            <a:ext cx="1471930" cy="369332"/>
          </a:xfrm>
          <a:prstGeom prst="rect">
            <a:avLst/>
          </a:prstGeom>
          <a:noFill/>
        </p:spPr>
        <p:txBody>
          <a:bodyPr wrap="square" rtlCol="0">
            <a:spAutoFit/>
          </a:bodyPr>
          <a:lstStyle/>
          <a:p>
            <a:r>
              <a:rPr lang="en-US" altLang="zh-CN" dirty="0">
                <a:latin typeface="华文中宋" panose="02010600040101010101" pitchFamily="2" charset="-122"/>
                <a:ea typeface="华文中宋" panose="02010600040101010101" pitchFamily="2" charset="-122"/>
              </a:rPr>
              <a:t>(c)</a:t>
            </a:r>
            <a:r>
              <a:rPr lang="zh-CN" altLang="en-US" dirty="0">
                <a:latin typeface="华文中宋" panose="02010600040101010101" pitchFamily="2" charset="-122"/>
                <a:ea typeface="华文中宋" panose="02010600040101010101" pitchFamily="2" charset="-122"/>
              </a:rPr>
              <a:t>延迟</a:t>
            </a:r>
          </a:p>
        </p:txBody>
      </p:sp>
      <p:sp>
        <p:nvSpPr>
          <p:cNvPr id="14" name="文本框 13">
            <a:extLst>
              <a:ext uri="{FF2B5EF4-FFF2-40B4-BE49-F238E27FC236}">
                <a16:creationId xmlns:a16="http://schemas.microsoft.com/office/drawing/2014/main" id="{DEC78403-ABE2-36D9-14B9-E0380FFF840D}"/>
              </a:ext>
            </a:extLst>
          </p:cNvPr>
          <p:cNvSpPr txBox="1"/>
          <p:nvPr/>
        </p:nvSpPr>
        <p:spPr>
          <a:xfrm>
            <a:off x="5264179" y="4192764"/>
            <a:ext cx="2130801" cy="369332"/>
          </a:xfrm>
          <a:prstGeom prst="rect">
            <a:avLst/>
          </a:prstGeom>
          <a:noFill/>
        </p:spPr>
        <p:txBody>
          <a:bodyPr wrap="square" rtlCol="0">
            <a:spAutoFit/>
          </a:bodyPr>
          <a:lstStyle/>
          <a:p>
            <a:r>
              <a:rPr lang="en-US" altLang="zh-CN" dirty="0">
                <a:latin typeface="华文中宋" panose="02010600040101010101" pitchFamily="2" charset="-122"/>
                <a:ea typeface="华文中宋" panose="02010600040101010101" pitchFamily="2" charset="-122"/>
              </a:rPr>
              <a:t>(b) </a:t>
            </a:r>
            <a:r>
              <a:rPr lang="zh-CN" altLang="en-US" dirty="0">
                <a:latin typeface="华文中宋" panose="02010600040101010101" pitchFamily="2" charset="-122"/>
                <a:ea typeface="华文中宋" panose="02010600040101010101" pitchFamily="2" charset="-122"/>
              </a:rPr>
              <a:t>平均队列长度</a:t>
            </a:r>
          </a:p>
        </p:txBody>
      </p:sp>
      <p:sp>
        <p:nvSpPr>
          <p:cNvPr id="15" name="文本框 14">
            <a:extLst>
              <a:ext uri="{FF2B5EF4-FFF2-40B4-BE49-F238E27FC236}">
                <a16:creationId xmlns:a16="http://schemas.microsoft.com/office/drawing/2014/main" id="{7B9E73CA-FBFC-D59A-684F-9AF0C1F8BC06}"/>
              </a:ext>
            </a:extLst>
          </p:cNvPr>
          <p:cNvSpPr txBox="1"/>
          <p:nvPr/>
        </p:nvSpPr>
        <p:spPr>
          <a:xfrm>
            <a:off x="2020570" y="4192764"/>
            <a:ext cx="1471930" cy="369332"/>
          </a:xfrm>
          <a:prstGeom prst="rect">
            <a:avLst/>
          </a:prstGeom>
          <a:noFill/>
        </p:spPr>
        <p:txBody>
          <a:bodyPr wrap="square" rtlCol="0">
            <a:spAutoFit/>
          </a:bodyPr>
          <a:lstStyle/>
          <a:p>
            <a:r>
              <a:rPr lang="en-US" altLang="zh-CN" dirty="0">
                <a:latin typeface="华文中宋" panose="02010600040101010101" pitchFamily="2" charset="-122"/>
                <a:ea typeface="华文中宋" panose="02010600040101010101" pitchFamily="2" charset="-122"/>
              </a:rPr>
              <a:t>(a) </a:t>
            </a:r>
            <a:r>
              <a:rPr lang="zh-CN" altLang="en-US" dirty="0">
                <a:latin typeface="华文中宋" panose="02010600040101010101" pitchFamily="2" charset="-122"/>
                <a:ea typeface="华文中宋" panose="02010600040101010101" pitchFamily="2" charset="-122"/>
              </a:rPr>
              <a:t>累计奖励</a:t>
            </a:r>
          </a:p>
        </p:txBody>
      </p:sp>
      <p:pic>
        <p:nvPicPr>
          <p:cNvPr id="4" name="图片 3">
            <a:extLst>
              <a:ext uri="{FF2B5EF4-FFF2-40B4-BE49-F238E27FC236}">
                <a16:creationId xmlns:a16="http://schemas.microsoft.com/office/drawing/2014/main" id="{E317E205-FAC7-7753-8087-BE6DB930896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92634" y="2121233"/>
            <a:ext cx="3165970" cy="1886865"/>
          </a:xfrm>
          <a:prstGeom prst="rect">
            <a:avLst/>
          </a:prstGeom>
          <a:noFill/>
          <a:ln>
            <a:noFill/>
          </a:ln>
        </p:spPr>
      </p:pic>
      <p:pic>
        <p:nvPicPr>
          <p:cNvPr id="5" name="图片 4">
            <a:extLst>
              <a:ext uri="{FF2B5EF4-FFF2-40B4-BE49-F238E27FC236}">
                <a16:creationId xmlns:a16="http://schemas.microsoft.com/office/drawing/2014/main" id="{8AD3ED01-B010-7B37-1297-B7DF5E1027E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27026" y="2121233"/>
            <a:ext cx="3165970" cy="1887589"/>
          </a:xfrm>
          <a:prstGeom prst="rect">
            <a:avLst/>
          </a:prstGeom>
          <a:noFill/>
          <a:ln>
            <a:noFill/>
          </a:ln>
        </p:spPr>
      </p:pic>
      <p:pic>
        <p:nvPicPr>
          <p:cNvPr id="6" name="图片 5">
            <a:extLst>
              <a:ext uri="{FF2B5EF4-FFF2-40B4-BE49-F238E27FC236}">
                <a16:creationId xmlns:a16="http://schemas.microsoft.com/office/drawing/2014/main" id="{56D35B72-9FB9-E9FB-50E2-DDC77644794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27591" y="2118932"/>
            <a:ext cx="3171256" cy="1886864"/>
          </a:xfrm>
          <a:prstGeom prst="rect">
            <a:avLst/>
          </a:prstGeom>
          <a:noFill/>
          <a:ln>
            <a:noFill/>
          </a:ln>
        </p:spPr>
      </p:pic>
      <p:sp>
        <p:nvSpPr>
          <p:cNvPr id="8" name="文本框 7">
            <a:extLst>
              <a:ext uri="{FF2B5EF4-FFF2-40B4-BE49-F238E27FC236}">
                <a16:creationId xmlns:a16="http://schemas.microsoft.com/office/drawing/2014/main" id="{11301B8F-1BDA-99C8-9686-80F044456CC3}"/>
              </a:ext>
            </a:extLst>
          </p:cNvPr>
          <p:cNvSpPr txBox="1"/>
          <p:nvPr/>
        </p:nvSpPr>
        <p:spPr>
          <a:xfrm>
            <a:off x="2020570" y="5142733"/>
            <a:ext cx="8488680" cy="646331"/>
          </a:xfrm>
          <a:prstGeom prst="rect">
            <a:avLst/>
          </a:prstGeom>
          <a:noFill/>
        </p:spPr>
        <p:txBody>
          <a:bodyPr wrap="square" rtlCol="0">
            <a:spAutoFit/>
          </a:bodyPr>
          <a:lstStyle/>
          <a:p>
            <a:r>
              <a:rPr lang="en-US" altLang="zh-CN" b="1" dirty="0">
                <a:solidFill>
                  <a:srgbClr val="FF0000"/>
                </a:solidFill>
                <a:latin typeface="华文中宋" panose="02010600040101010101" pitchFamily="2" charset="-122"/>
                <a:ea typeface="华文中宋" panose="02010600040101010101" pitchFamily="2" charset="-122"/>
              </a:rPr>
              <a:t>[</a:t>
            </a:r>
            <a:r>
              <a:rPr lang="zh-CN" altLang="en-US" b="1" dirty="0">
                <a:solidFill>
                  <a:srgbClr val="FF0000"/>
                </a:solidFill>
                <a:latin typeface="华文中宋" panose="02010600040101010101" pitchFamily="2" charset="-122"/>
                <a:ea typeface="华文中宋" panose="02010600040101010101" pitchFamily="2" charset="-122"/>
              </a:rPr>
              <a:t>问题</a:t>
            </a:r>
            <a:r>
              <a:rPr lang="en-US" altLang="zh-CN" b="1" dirty="0">
                <a:solidFill>
                  <a:srgbClr val="FF0000"/>
                </a:solidFill>
                <a:latin typeface="华文中宋" panose="02010600040101010101" pitchFamily="2" charset="-122"/>
                <a:ea typeface="华文中宋" panose="02010600040101010101" pitchFamily="2" charset="-122"/>
              </a:rPr>
              <a:t>]: </a:t>
            </a:r>
            <a:r>
              <a:rPr lang="zh-CN" altLang="en-US" b="1" dirty="0">
                <a:solidFill>
                  <a:srgbClr val="FF0000"/>
                </a:solidFill>
                <a:latin typeface="华文中宋" panose="02010600040101010101" pitchFamily="2" charset="-122"/>
                <a:ea typeface="华文中宋" panose="02010600040101010101" pitchFamily="2" charset="-122"/>
              </a:rPr>
              <a:t>尝试优化奖励函数为全局效率，但在测试时仍然出现堵塞，相位不变的情况。需要进一步进行算法优化。</a:t>
            </a:r>
          </a:p>
        </p:txBody>
      </p:sp>
    </p:spTree>
    <p:extLst>
      <p:ext uri="{BB962C8B-B14F-4D97-AF65-F5344CB8AC3E}">
        <p14:creationId xmlns:p14="http://schemas.microsoft.com/office/powerpoint/2010/main" val="1016223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C2809-B95F-8BD7-2ADE-64AA4B09F79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F8AE1E6-C506-B5B6-2A95-7E878C135047}"/>
              </a:ext>
            </a:extLst>
          </p:cNvPr>
          <p:cNvSpPr>
            <a:spLocks noGrp="1"/>
          </p:cNvSpPr>
          <p:nvPr>
            <p:ph type="title"/>
          </p:nvPr>
        </p:nvSpPr>
        <p:spPr>
          <a:xfrm>
            <a:off x="580448" y="168744"/>
            <a:ext cx="11147191" cy="604507"/>
          </a:xfrm>
          <a:solidFill>
            <a:schemeClr val="accent1">
              <a:lumMod val="75000"/>
            </a:schemeClr>
          </a:solidFill>
        </p:spPr>
        <p:txBody>
          <a:bodyPr>
            <a:noAutofit/>
          </a:bodyPr>
          <a:lstStyle/>
          <a:p>
            <a:r>
              <a:rPr lang="en-US" altLang="zh-CN" sz="3200" dirty="0">
                <a:solidFill>
                  <a:schemeClr val="bg1"/>
                </a:solidFill>
                <a:latin typeface="华文中宋" panose="02010600040101010101" pitchFamily="2" charset="-122"/>
                <a:ea typeface="华文中宋" panose="02010600040101010101" pitchFamily="2" charset="-122"/>
              </a:rPr>
              <a:t>4. </a:t>
            </a:r>
            <a:r>
              <a:rPr lang="zh-CN" altLang="en-US" sz="3200" dirty="0">
                <a:solidFill>
                  <a:schemeClr val="bg1"/>
                </a:solidFill>
                <a:latin typeface="华文中宋" panose="02010600040101010101" pitchFamily="2" charset="-122"/>
                <a:ea typeface="华文中宋" panose="02010600040101010101" pitchFamily="2" charset="-122"/>
              </a:rPr>
              <a:t>实验结果分析</a:t>
            </a:r>
          </a:p>
        </p:txBody>
      </p:sp>
      <p:sp>
        <p:nvSpPr>
          <p:cNvPr id="3" name="内容占位符 2">
            <a:extLst>
              <a:ext uri="{FF2B5EF4-FFF2-40B4-BE49-F238E27FC236}">
                <a16:creationId xmlns:a16="http://schemas.microsoft.com/office/drawing/2014/main" id="{384F066E-25A0-A510-0874-5A1B261D3193}"/>
              </a:ext>
            </a:extLst>
          </p:cNvPr>
          <p:cNvSpPr>
            <a:spLocks noGrp="1"/>
          </p:cNvSpPr>
          <p:nvPr>
            <p:ph idx="1"/>
          </p:nvPr>
        </p:nvSpPr>
        <p:spPr>
          <a:xfrm>
            <a:off x="580448" y="941909"/>
            <a:ext cx="11147192" cy="5550945"/>
          </a:xfrm>
          <a:solidFill>
            <a:schemeClr val="accent1">
              <a:lumMod val="40000"/>
              <a:lumOff val="60000"/>
            </a:schemeClr>
          </a:solidFill>
        </p:spPr>
        <p:txBody>
          <a:bodyPr/>
          <a:lstStyle/>
          <a:p>
            <a:endParaRPr lang="en-US" altLang="zh-CN" sz="2400" dirty="0"/>
          </a:p>
          <a:p>
            <a:endParaRPr lang="zh-CN" altLang="en-US" sz="2400" dirty="0"/>
          </a:p>
        </p:txBody>
      </p:sp>
      <p:sp>
        <p:nvSpPr>
          <p:cNvPr id="7" name="文本框 6">
            <a:extLst>
              <a:ext uri="{FF2B5EF4-FFF2-40B4-BE49-F238E27FC236}">
                <a16:creationId xmlns:a16="http://schemas.microsoft.com/office/drawing/2014/main" id="{983220B6-9323-A1DD-999E-5C0B6D0778D6}"/>
              </a:ext>
            </a:extLst>
          </p:cNvPr>
          <p:cNvSpPr txBox="1"/>
          <p:nvPr/>
        </p:nvSpPr>
        <p:spPr>
          <a:xfrm>
            <a:off x="958849" y="1200150"/>
            <a:ext cx="9550401" cy="2807948"/>
          </a:xfrm>
          <a:prstGeom prst="rect">
            <a:avLst/>
          </a:prstGeom>
          <a:noFill/>
        </p:spPr>
        <p:txBody>
          <a:bodyPr wrap="square" rtlCol="0">
            <a:spAutoFit/>
          </a:bodyPr>
          <a:lstStyle/>
          <a:p>
            <a:pPr>
              <a:lnSpc>
                <a:spcPct val="150000"/>
              </a:lnSpc>
            </a:pPr>
            <a:r>
              <a:rPr lang="en-US" altLang="zh-CN" sz="2000" b="1" dirty="0">
                <a:latin typeface="微软雅黑" panose="020B0503020204020204" pitchFamily="34" charset="-122"/>
                <a:ea typeface="微软雅黑" panose="020B0503020204020204" pitchFamily="34" charset="-122"/>
              </a:rPr>
              <a:t>4.3 </a:t>
            </a:r>
            <a:r>
              <a:rPr lang="zh-CN" altLang="en-US" sz="2000" b="1" dirty="0">
                <a:latin typeface="微软雅黑" panose="020B0503020204020204" pitchFamily="34" charset="-122"/>
                <a:ea typeface="微软雅黑" panose="020B0503020204020204" pitchFamily="34" charset="-122"/>
              </a:rPr>
              <a:t>实验三：一般路况</a:t>
            </a:r>
            <a:r>
              <a:rPr lang="en-US" altLang="zh-CN" sz="2000" b="1"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1" dirty="0">
                <a:latin typeface="微软雅黑" panose="020B0503020204020204" pitchFamily="34" charset="-122"/>
                <a:ea typeface="微软雅黑" panose="020B0503020204020204" pitchFamily="34" charset="-122"/>
                <a:sym typeface="Wingdings" panose="05000000000000000000" pitchFamily="2" charset="2"/>
              </a:rPr>
              <a:t>组合扰动（流量激增</a:t>
            </a:r>
            <a:r>
              <a:rPr lang="en-US" altLang="zh-CN" sz="2000" b="1"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1" dirty="0">
                <a:latin typeface="微软雅黑" panose="020B0503020204020204" pitchFamily="34" charset="-122"/>
                <a:ea typeface="微软雅黑" panose="020B0503020204020204" pitchFamily="34" charset="-122"/>
                <a:sym typeface="Wingdings" panose="05000000000000000000" pitchFamily="2" charset="2"/>
              </a:rPr>
              <a:t>道路封锁）</a:t>
            </a: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D4205F8D-BED9-A924-07EE-DB3C382C38FE}"/>
              </a:ext>
            </a:extLst>
          </p:cNvPr>
          <p:cNvSpPr txBox="1"/>
          <p:nvPr/>
        </p:nvSpPr>
        <p:spPr>
          <a:xfrm>
            <a:off x="4343400" y="4564402"/>
            <a:ext cx="4927600" cy="338554"/>
          </a:xfrm>
          <a:prstGeom prst="rect">
            <a:avLst/>
          </a:prstGeom>
          <a:noFill/>
        </p:spPr>
        <p:txBody>
          <a:bodyPr wrap="square" rtlCol="0">
            <a:spAutoFit/>
          </a:bodyPr>
          <a:lstStyle/>
          <a:p>
            <a:r>
              <a:rPr lang="zh-CN" altLang="en-US" sz="1600" dirty="0">
                <a:latin typeface="华文中宋" panose="02010600040101010101" pitchFamily="2" charset="-122"/>
                <a:ea typeface="华文中宋" panose="02010600040101010101" pitchFamily="2" charset="-122"/>
              </a:rPr>
              <a:t>不同算法在组合扰动突变下的性能对比</a:t>
            </a:r>
          </a:p>
        </p:txBody>
      </p:sp>
      <p:sp>
        <p:nvSpPr>
          <p:cNvPr id="13" name="文本框 12">
            <a:extLst>
              <a:ext uri="{FF2B5EF4-FFF2-40B4-BE49-F238E27FC236}">
                <a16:creationId xmlns:a16="http://schemas.microsoft.com/office/drawing/2014/main" id="{0D357B36-C1D3-6520-CAD3-2397514A414E}"/>
              </a:ext>
            </a:extLst>
          </p:cNvPr>
          <p:cNvSpPr txBox="1"/>
          <p:nvPr/>
        </p:nvSpPr>
        <p:spPr>
          <a:xfrm>
            <a:off x="9435465" y="4176756"/>
            <a:ext cx="1471930" cy="369332"/>
          </a:xfrm>
          <a:prstGeom prst="rect">
            <a:avLst/>
          </a:prstGeom>
          <a:noFill/>
        </p:spPr>
        <p:txBody>
          <a:bodyPr wrap="square" rtlCol="0">
            <a:spAutoFit/>
          </a:bodyPr>
          <a:lstStyle/>
          <a:p>
            <a:r>
              <a:rPr lang="en-US" altLang="zh-CN" dirty="0">
                <a:latin typeface="华文中宋" panose="02010600040101010101" pitchFamily="2" charset="-122"/>
                <a:ea typeface="华文中宋" panose="02010600040101010101" pitchFamily="2" charset="-122"/>
              </a:rPr>
              <a:t>(c)</a:t>
            </a:r>
            <a:r>
              <a:rPr lang="zh-CN" altLang="en-US" dirty="0">
                <a:latin typeface="华文中宋" panose="02010600040101010101" pitchFamily="2" charset="-122"/>
                <a:ea typeface="华文中宋" panose="02010600040101010101" pitchFamily="2" charset="-122"/>
              </a:rPr>
              <a:t>延迟</a:t>
            </a:r>
          </a:p>
        </p:txBody>
      </p:sp>
      <p:sp>
        <p:nvSpPr>
          <p:cNvPr id="14" name="文本框 13">
            <a:extLst>
              <a:ext uri="{FF2B5EF4-FFF2-40B4-BE49-F238E27FC236}">
                <a16:creationId xmlns:a16="http://schemas.microsoft.com/office/drawing/2014/main" id="{65FBD01D-C46B-BE66-4BC9-C33FB0060FFD}"/>
              </a:ext>
            </a:extLst>
          </p:cNvPr>
          <p:cNvSpPr txBox="1"/>
          <p:nvPr/>
        </p:nvSpPr>
        <p:spPr>
          <a:xfrm>
            <a:off x="5264179" y="4192764"/>
            <a:ext cx="1991273" cy="369332"/>
          </a:xfrm>
          <a:prstGeom prst="rect">
            <a:avLst/>
          </a:prstGeom>
          <a:noFill/>
        </p:spPr>
        <p:txBody>
          <a:bodyPr wrap="square" rtlCol="0">
            <a:spAutoFit/>
          </a:bodyPr>
          <a:lstStyle/>
          <a:p>
            <a:r>
              <a:rPr lang="en-US" altLang="zh-CN" dirty="0">
                <a:latin typeface="华文中宋" panose="02010600040101010101" pitchFamily="2" charset="-122"/>
                <a:ea typeface="华文中宋" panose="02010600040101010101" pitchFamily="2" charset="-122"/>
              </a:rPr>
              <a:t>(b) </a:t>
            </a:r>
            <a:r>
              <a:rPr lang="zh-CN" altLang="en-US" dirty="0">
                <a:latin typeface="华文中宋" panose="02010600040101010101" pitchFamily="2" charset="-122"/>
                <a:ea typeface="华文中宋" panose="02010600040101010101" pitchFamily="2" charset="-122"/>
              </a:rPr>
              <a:t>平均队列长度</a:t>
            </a:r>
          </a:p>
        </p:txBody>
      </p:sp>
      <p:sp>
        <p:nvSpPr>
          <p:cNvPr id="15" name="文本框 14">
            <a:extLst>
              <a:ext uri="{FF2B5EF4-FFF2-40B4-BE49-F238E27FC236}">
                <a16:creationId xmlns:a16="http://schemas.microsoft.com/office/drawing/2014/main" id="{CFD5EC8A-0C12-F253-BB12-6655755BB132}"/>
              </a:ext>
            </a:extLst>
          </p:cNvPr>
          <p:cNvSpPr txBox="1"/>
          <p:nvPr/>
        </p:nvSpPr>
        <p:spPr>
          <a:xfrm>
            <a:off x="2020570" y="4192764"/>
            <a:ext cx="1471930" cy="369332"/>
          </a:xfrm>
          <a:prstGeom prst="rect">
            <a:avLst/>
          </a:prstGeom>
          <a:noFill/>
        </p:spPr>
        <p:txBody>
          <a:bodyPr wrap="square" rtlCol="0">
            <a:spAutoFit/>
          </a:bodyPr>
          <a:lstStyle/>
          <a:p>
            <a:r>
              <a:rPr lang="en-US" altLang="zh-CN" dirty="0">
                <a:latin typeface="华文中宋" panose="02010600040101010101" pitchFamily="2" charset="-122"/>
                <a:ea typeface="华文中宋" panose="02010600040101010101" pitchFamily="2" charset="-122"/>
              </a:rPr>
              <a:t>(a) </a:t>
            </a:r>
            <a:r>
              <a:rPr lang="zh-CN" altLang="en-US" dirty="0">
                <a:latin typeface="华文中宋" panose="02010600040101010101" pitchFamily="2" charset="-122"/>
                <a:ea typeface="华文中宋" panose="02010600040101010101" pitchFamily="2" charset="-122"/>
              </a:rPr>
              <a:t>累计奖励</a:t>
            </a:r>
          </a:p>
        </p:txBody>
      </p:sp>
      <p:pic>
        <p:nvPicPr>
          <p:cNvPr id="4" name="图片 3">
            <a:extLst>
              <a:ext uri="{FF2B5EF4-FFF2-40B4-BE49-F238E27FC236}">
                <a16:creationId xmlns:a16="http://schemas.microsoft.com/office/drawing/2014/main" id="{80CCCC99-20B6-E595-7286-659A4E9836D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95505" y="2121233"/>
            <a:ext cx="3165116" cy="1886865"/>
          </a:xfrm>
          <a:prstGeom prst="rect">
            <a:avLst/>
          </a:prstGeom>
          <a:noFill/>
          <a:ln>
            <a:noFill/>
          </a:ln>
        </p:spPr>
      </p:pic>
      <p:pic>
        <p:nvPicPr>
          <p:cNvPr id="5" name="图片 4">
            <a:extLst>
              <a:ext uri="{FF2B5EF4-FFF2-40B4-BE49-F238E27FC236}">
                <a16:creationId xmlns:a16="http://schemas.microsoft.com/office/drawing/2014/main" id="{420F8AB7-681F-1D36-A3C5-298600FC1B0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97276" y="2121232"/>
            <a:ext cx="3165115" cy="1886703"/>
          </a:xfrm>
          <a:prstGeom prst="rect">
            <a:avLst/>
          </a:prstGeom>
          <a:noFill/>
          <a:ln>
            <a:noFill/>
          </a:ln>
        </p:spPr>
      </p:pic>
      <p:pic>
        <p:nvPicPr>
          <p:cNvPr id="6" name="图片 5">
            <a:extLst>
              <a:ext uri="{FF2B5EF4-FFF2-40B4-BE49-F238E27FC236}">
                <a16:creationId xmlns:a16="http://schemas.microsoft.com/office/drawing/2014/main" id="{C9415EE5-F089-07CC-CC41-0641F2743CE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17839" y="2121232"/>
            <a:ext cx="3164955" cy="1886703"/>
          </a:xfrm>
          <a:prstGeom prst="rect">
            <a:avLst/>
          </a:prstGeom>
          <a:noFill/>
          <a:ln>
            <a:noFill/>
          </a:ln>
        </p:spPr>
      </p:pic>
      <p:graphicFrame>
        <p:nvGraphicFramePr>
          <p:cNvPr id="8" name="表格 7">
            <a:extLst>
              <a:ext uri="{FF2B5EF4-FFF2-40B4-BE49-F238E27FC236}">
                <a16:creationId xmlns:a16="http://schemas.microsoft.com/office/drawing/2014/main" id="{4693CB8F-87AD-5F00-4EF1-8ADD5AA2A5F0}"/>
              </a:ext>
            </a:extLst>
          </p:cNvPr>
          <p:cNvGraphicFramePr>
            <a:graphicFrameLocks noGrp="1"/>
          </p:cNvGraphicFramePr>
          <p:nvPr>
            <p:extLst>
              <p:ext uri="{D42A27DB-BD31-4B8C-83A1-F6EECF244321}">
                <p14:modId xmlns:p14="http://schemas.microsoft.com/office/powerpoint/2010/main" val="3601287937"/>
              </p:ext>
            </p:extLst>
          </p:nvPr>
        </p:nvGraphicFramePr>
        <p:xfrm>
          <a:off x="2421628" y="5027920"/>
          <a:ext cx="7278688" cy="1219200"/>
        </p:xfrm>
        <a:graphic>
          <a:graphicData uri="http://schemas.openxmlformats.org/drawingml/2006/table">
            <a:tbl>
              <a:tblPr firstRow="1" firstCol="1" bandRow="1">
                <a:tableStyleId>{3B4B98B0-60AC-42C2-AFA5-B58CD77FA1E5}</a:tableStyleId>
              </a:tblPr>
              <a:tblGrid>
                <a:gridCol w="2259642">
                  <a:extLst>
                    <a:ext uri="{9D8B030D-6E8A-4147-A177-3AD203B41FA5}">
                      <a16:colId xmlns:a16="http://schemas.microsoft.com/office/drawing/2014/main" val="1720872052"/>
                    </a:ext>
                  </a:extLst>
                </a:gridCol>
                <a:gridCol w="2027080">
                  <a:extLst>
                    <a:ext uri="{9D8B030D-6E8A-4147-A177-3AD203B41FA5}">
                      <a16:colId xmlns:a16="http://schemas.microsoft.com/office/drawing/2014/main" val="2334210283"/>
                    </a:ext>
                  </a:extLst>
                </a:gridCol>
                <a:gridCol w="1495983">
                  <a:extLst>
                    <a:ext uri="{9D8B030D-6E8A-4147-A177-3AD203B41FA5}">
                      <a16:colId xmlns:a16="http://schemas.microsoft.com/office/drawing/2014/main" val="1873496988"/>
                    </a:ext>
                  </a:extLst>
                </a:gridCol>
                <a:gridCol w="1495983">
                  <a:extLst>
                    <a:ext uri="{9D8B030D-6E8A-4147-A177-3AD203B41FA5}">
                      <a16:colId xmlns:a16="http://schemas.microsoft.com/office/drawing/2014/main" val="291460726"/>
                    </a:ext>
                  </a:extLst>
                </a:gridCol>
              </a:tblGrid>
              <a:tr h="177800">
                <a:tc rowSpan="2">
                  <a:txBody>
                    <a:bodyPr/>
                    <a:lstStyle/>
                    <a:p>
                      <a:pPr algn="ctr">
                        <a:buNone/>
                      </a:pPr>
                      <a:r>
                        <a:rPr lang="en-US" sz="1600" kern="0" dirty="0">
                          <a:effectLst/>
                          <a:latin typeface="Times New Roman" panose="02020603050405020304" pitchFamily="18" charset="0"/>
                          <a:cs typeface="Times New Roman" panose="02020603050405020304" pitchFamily="18" charset="0"/>
                        </a:rPr>
                        <a:t>Algorithms</a:t>
                      </a:r>
                      <a:endParaRPr lang="zh-CN" sz="14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gridSpan="3">
                  <a:txBody>
                    <a:bodyPr/>
                    <a:lstStyle/>
                    <a:p>
                      <a:pPr algn="ctr">
                        <a:buNone/>
                      </a:pPr>
                      <a:r>
                        <a:rPr lang="en-US" sz="1600" kern="0">
                          <a:effectLst/>
                          <a:latin typeface="Times New Roman" panose="02020603050405020304" pitchFamily="18" charset="0"/>
                          <a:cs typeface="Times New Roman" panose="02020603050405020304" pitchFamily="18" charset="0"/>
                        </a:rPr>
                        <a:t>Normal</a:t>
                      </a:r>
                      <a:r>
                        <a:rPr lang="en-US" sz="1600" kern="0">
                          <a:effectLst/>
                          <a:latin typeface="Times New Roman" panose="02020603050405020304" pitchFamily="18" charset="0"/>
                          <a:cs typeface="Times New Roman" panose="02020603050405020304" pitchFamily="18" charset="0"/>
                          <a:sym typeface="Wingdings" panose="05000000000000000000" pitchFamily="2" charset="2"/>
                        </a:rPr>
                        <a:t></a:t>
                      </a:r>
                      <a:r>
                        <a:rPr lang="en-US" sz="1600" kern="0">
                          <a:effectLst/>
                          <a:latin typeface="Times New Roman" panose="02020603050405020304" pitchFamily="18" charset="0"/>
                          <a:cs typeface="Times New Roman" panose="02020603050405020304" pitchFamily="18" charset="0"/>
                        </a:rPr>
                        <a:t>Combined Interference</a:t>
                      </a:r>
                      <a:endParaRPr lang="zh-CN" sz="14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828394054"/>
                  </a:ext>
                </a:extLst>
              </a:tr>
              <a:tr h="177800">
                <a:tc vMerge="1">
                  <a:txBody>
                    <a:bodyPr/>
                    <a:lstStyle/>
                    <a:p>
                      <a:endParaRPr lang="zh-CN" altLang="en-US"/>
                    </a:p>
                  </a:txBody>
                  <a:tcPr/>
                </a:tc>
                <a:tc>
                  <a:txBody>
                    <a:bodyPr/>
                    <a:lstStyle/>
                    <a:p>
                      <a:pPr algn="ctr">
                        <a:buNone/>
                      </a:pPr>
                      <a:r>
                        <a:rPr lang="en-US" sz="1600" kern="0" dirty="0">
                          <a:effectLst/>
                          <a:latin typeface="Times New Roman" panose="02020603050405020304" pitchFamily="18" charset="0"/>
                          <a:cs typeface="Times New Roman" panose="02020603050405020304" pitchFamily="18" charset="0"/>
                        </a:rPr>
                        <a:t>Average queue length</a:t>
                      </a:r>
                      <a:endParaRPr lang="zh-CN" sz="14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0">
                          <a:effectLst/>
                          <a:latin typeface="Times New Roman" panose="02020603050405020304" pitchFamily="18" charset="0"/>
                          <a:cs typeface="Times New Roman" panose="02020603050405020304" pitchFamily="18" charset="0"/>
                        </a:rPr>
                        <a:t>rewards</a:t>
                      </a:r>
                      <a:endParaRPr lang="zh-CN" sz="14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0">
                          <a:effectLst/>
                          <a:latin typeface="Times New Roman" panose="02020603050405020304" pitchFamily="18" charset="0"/>
                          <a:cs typeface="Times New Roman" panose="02020603050405020304" pitchFamily="18" charset="0"/>
                        </a:rPr>
                        <a:t>Delay    </a:t>
                      </a:r>
                      <a:endParaRPr lang="zh-CN" sz="14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34319044"/>
                  </a:ext>
                </a:extLst>
              </a:tr>
              <a:tr h="177800">
                <a:tc>
                  <a:txBody>
                    <a:bodyPr/>
                    <a:lstStyle/>
                    <a:p>
                      <a:pPr algn="ctr">
                        <a:buNone/>
                      </a:pPr>
                      <a:r>
                        <a:rPr lang="en-US" sz="1600" kern="0">
                          <a:effectLst/>
                          <a:latin typeface="Times New Roman" panose="02020603050405020304" pitchFamily="18" charset="0"/>
                          <a:cs typeface="Times New Roman" panose="02020603050405020304" pitchFamily="18" charset="0"/>
                        </a:rPr>
                        <a:t>DQN (BaseLine)</a:t>
                      </a:r>
                      <a:endParaRPr lang="zh-CN" sz="14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0" dirty="0">
                          <a:effectLst/>
                          <a:latin typeface="Times New Roman" panose="02020603050405020304" pitchFamily="18" charset="0"/>
                          <a:cs typeface="Times New Roman" panose="02020603050405020304" pitchFamily="18" charset="0"/>
                        </a:rPr>
                        <a:t>8.84</a:t>
                      </a:r>
                      <a:endParaRPr lang="zh-CN" sz="14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kern="0" dirty="0">
                          <a:effectLst/>
                          <a:latin typeface="Times New Roman" panose="02020603050405020304" pitchFamily="18" charset="0"/>
                          <a:cs typeface="Times New Roman" panose="02020603050405020304" pitchFamily="18" charset="0"/>
                        </a:rPr>
                        <a:t>0</a:t>
                      </a:r>
                      <a:endParaRPr lang="zh-CN" sz="14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kern="0">
                          <a:effectLst/>
                          <a:latin typeface="Times New Roman" panose="02020603050405020304" pitchFamily="18" charset="0"/>
                          <a:cs typeface="Times New Roman" panose="02020603050405020304" pitchFamily="18" charset="0"/>
                        </a:rPr>
                        <a:t>312.5</a:t>
                      </a:r>
                      <a:endParaRPr lang="zh-CN" sz="14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35480516"/>
                  </a:ext>
                </a:extLst>
              </a:tr>
              <a:tr h="177800">
                <a:tc>
                  <a:txBody>
                    <a:bodyPr/>
                    <a:lstStyle/>
                    <a:p>
                      <a:pPr algn="ctr">
                        <a:buNone/>
                      </a:pPr>
                      <a:r>
                        <a:rPr lang="en-US" sz="1600" kern="0">
                          <a:effectLst/>
                          <a:latin typeface="Times New Roman" panose="02020603050405020304" pitchFamily="18" charset="0"/>
                          <a:cs typeface="Times New Roman" panose="02020603050405020304" pitchFamily="18" charset="0"/>
                        </a:rPr>
                        <a:t>D3QN </a:t>
                      </a:r>
                      <a:endParaRPr lang="zh-CN" sz="14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0">
                          <a:effectLst/>
                          <a:latin typeface="Times New Roman" panose="02020603050405020304" pitchFamily="18" charset="0"/>
                          <a:cs typeface="Times New Roman" panose="02020603050405020304" pitchFamily="18" charset="0"/>
                        </a:rPr>
                        <a:t>1.91 (</a:t>
                      </a:r>
                      <a:r>
                        <a:rPr lang="zh-CN" sz="1600" kern="0">
                          <a:effectLst/>
                          <a:latin typeface="Times New Roman" panose="02020603050405020304" pitchFamily="18" charset="0"/>
                          <a:cs typeface="Times New Roman" panose="02020603050405020304" pitchFamily="18" charset="0"/>
                        </a:rPr>
                        <a:t>↓</a:t>
                      </a:r>
                      <a:r>
                        <a:rPr lang="en-US" sz="1600" kern="0">
                          <a:effectLst/>
                          <a:latin typeface="Times New Roman" panose="02020603050405020304" pitchFamily="18" charset="0"/>
                          <a:cs typeface="Times New Roman" panose="02020603050405020304" pitchFamily="18" charset="0"/>
                        </a:rPr>
                        <a:t>78%)</a:t>
                      </a:r>
                      <a:endParaRPr lang="zh-CN" sz="14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kern="0" dirty="0">
                          <a:effectLst/>
                          <a:latin typeface="Times New Roman" panose="02020603050405020304" pitchFamily="18" charset="0"/>
                          <a:cs typeface="Times New Roman" panose="02020603050405020304" pitchFamily="18" charset="0"/>
                        </a:rPr>
                        <a:t>0</a:t>
                      </a:r>
                      <a:endParaRPr lang="zh-CN" sz="14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kern="0" dirty="0">
                          <a:effectLst/>
                          <a:latin typeface="Times New Roman" panose="02020603050405020304" pitchFamily="18" charset="0"/>
                          <a:cs typeface="Times New Roman" panose="02020603050405020304" pitchFamily="18" charset="0"/>
                        </a:rPr>
                        <a:t>22.37 (</a:t>
                      </a:r>
                      <a:r>
                        <a:rPr lang="zh-CN" sz="1600" kern="0" dirty="0">
                          <a:effectLst/>
                          <a:latin typeface="Times New Roman" panose="02020603050405020304" pitchFamily="18" charset="0"/>
                          <a:cs typeface="Times New Roman" panose="02020603050405020304" pitchFamily="18" charset="0"/>
                        </a:rPr>
                        <a:t>↓</a:t>
                      </a:r>
                      <a:r>
                        <a:rPr lang="en-US" sz="1600" kern="0" dirty="0">
                          <a:effectLst/>
                          <a:latin typeface="Times New Roman" panose="02020603050405020304" pitchFamily="18" charset="0"/>
                          <a:cs typeface="Times New Roman" panose="02020603050405020304" pitchFamily="18" charset="0"/>
                        </a:rPr>
                        <a:t>93%)</a:t>
                      </a:r>
                      <a:endParaRPr lang="zh-CN" sz="14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74219423"/>
                  </a:ext>
                </a:extLst>
              </a:tr>
              <a:tr h="177800">
                <a:tc>
                  <a:txBody>
                    <a:bodyPr/>
                    <a:lstStyle/>
                    <a:p>
                      <a:pPr algn="ctr">
                        <a:buNone/>
                      </a:pPr>
                      <a:r>
                        <a:rPr lang="en-US" sz="1600" kern="0">
                          <a:effectLst/>
                          <a:latin typeface="Times New Roman" panose="02020603050405020304" pitchFamily="18" charset="0"/>
                          <a:cs typeface="Times New Roman" panose="02020603050405020304" pitchFamily="18" charset="0"/>
                        </a:rPr>
                        <a:t>PER-D3QN</a:t>
                      </a:r>
                      <a:endParaRPr lang="zh-CN" sz="14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buNone/>
                      </a:pPr>
                      <a:r>
                        <a:rPr lang="en-US" sz="1600" kern="0">
                          <a:effectLst/>
                          <a:latin typeface="Times New Roman" panose="02020603050405020304" pitchFamily="18" charset="0"/>
                          <a:cs typeface="Times New Roman" panose="02020603050405020304" pitchFamily="18" charset="0"/>
                        </a:rPr>
                        <a:t>2.17 (</a:t>
                      </a:r>
                      <a:r>
                        <a:rPr lang="zh-CN" sz="1600" kern="0">
                          <a:effectLst/>
                          <a:latin typeface="Times New Roman" panose="02020603050405020304" pitchFamily="18" charset="0"/>
                          <a:cs typeface="Times New Roman" panose="02020603050405020304" pitchFamily="18" charset="0"/>
                        </a:rPr>
                        <a:t>↓</a:t>
                      </a:r>
                      <a:r>
                        <a:rPr lang="en-US" sz="1600" kern="0">
                          <a:effectLst/>
                          <a:latin typeface="Times New Roman" panose="02020603050405020304" pitchFamily="18" charset="0"/>
                          <a:cs typeface="Times New Roman" panose="02020603050405020304" pitchFamily="18" charset="0"/>
                        </a:rPr>
                        <a:t>75%)</a:t>
                      </a:r>
                      <a:endParaRPr lang="zh-CN" sz="14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kern="0">
                          <a:effectLst/>
                          <a:latin typeface="Times New Roman" panose="02020603050405020304" pitchFamily="18" charset="0"/>
                          <a:cs typeface="Times New Roman" panose="02020603050405020304" pitchFamily="18" charset="0"/>
                        </a:rPr>
                        <a:t>0</a:t>
                      </a:r>
                      <a:endParaRPr lang="zh-CN" sz="14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1600" kern="0" dirty="0">
                          <a:effectLst/>
                          <a:latin typeface="Times New Roman" panose="02020603050405020304" pitchFamily="18" charset="0"/>
                          <a:cs typeface="Times New Roman" panose="02020603050405020304" pitchFamily="18" charset="0"/>
                        </a:rPr>
                        <a:t>25.45 (</a:t>
                      </a:r>
                      <a:r>
                        <a:rPr lang="zh-CN" sz="1600" kern="0" dirty="0">
                          <a:effectLst/>
                          <a:latin typeface="Times New Roman" panose="02020603050405020304" pitchFamily="18" charset="0"/>
                          <a:cs typeface="Times New Roman" panose="02020603050405020304" pitchFamily="18" charset="0"/>
                        </a:rPr>
                        <a:t>↓</a:t>
                      </a:r>
                      <a:r>
                        <a:rPr lang="en-US" sz="1600" kern="0" dirty="0">
                          <a:effectLst/>
                          <a:latin typeface="Times New Roman" panose="02020603050405020304" pitchFamily="18" charset="0"/>
                          <a:cs typeface="Times New Roman" panose="02020603050405020304" pitchFamily="18" charset="0"/>
                        </a:rPr>
                        <a:t>92%)</a:t>
                      </a:r>
                      <a:endParaRPr lang="zh-CN" sz="14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12765605"/>
                  </a:ext>
                </a:extLst>
              </a:tr>
            </a:tbl>
          </a:graphicData>
        </a:graphic>
      </p:graphicFrame>
    </p:spTree>
    <p:extLst>
      <p:ext uri="{BB962C8B-B14F-4D97-AF65-F5344CB8AC3E}">
        <p14:creationId xmlns:p14="http://schemas.microsoft.com/office/powerpoint/2010/main" val="1458203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34FEC-92D6-B947-5CD4-071BD6006B1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0F47AA7-5B21-8C78-5F68-0CAC85190703}"/>
              </a:ext>
            </a:extLst>
          </p:cNvPr>
          <p:cNvSpPr>
            <a:spLocks noGrp="1"/>
          </p:cNvSpPr>
          <p:nvPr>
            <p:ph type="title"/>
          </p:nvPr>
        </p:nvSpPr>
        <p:spPr>
          <a:xfrm>
            <a:off x="580448" y="168744"/>
            <a:ext cx="11147191" cy="604507"/>
          </a:xfrm>
          <a:solidFill>
            <a:schemeClr val="accent1">
              <a:lumMod val="75000"/>
            </a:schemeClr>
          </a:solidFill>
        </p:spPr>
        <p:txBody>
          <a:bodyPr>
            <a:noAutofit/>
          </a:bodyPr>
          <a:lstStyle/>
          <a:p>
            <a:r>
              <a:rPr lang="en-US" altLang="zh-CN" sz="3200" dirty="0">
                <a:solidFill>
                  <a:schemeClr val="bg1"/>
                </a:solidFill>
                <a:latin typeface="华文中宋" panose="02010600040101010101" pitchFamily="2" charset="-122"/>
                <a:ea typeface="华文中宋" panose="02010600040101010101" pitchFamily="2" charset="-122"/>
              </a:rPr>
              <a:t>4. </a:t>
            </a:r>
            <a:r>
              <a:rPr lang="zh-CN" altLang="en-US" sz="3200" dirty="0">
                <a:solidFill>
                  <a:schemeClr val="bg1"/>
                </a:solidFill>
                <a:latin typeface="华文中宋" panose="02010600040101010101" pitchFamily="2" charset="-122"/>
                <a:ea typeface="华文中宋" panose="02010600040101010101" pitchFamily="2" charset="-122"/>
              </a:rPr>
              <a:t>实验结果分析</a:t>
            </a:r>
          </a:p>
        </p:txBody>
      </p:sp>
      <p:sp>
        <p:nvSpPr>
          <p:cNvPr id="3" name="内容占位符 2">
            <a:extLst>
              <a:ext uri="{FF2B5EF4-FFF2-40B4-BE49-F238E27FC236}">
                <a16:creationId xmlns:a16="http://schemas.microsoft.com/office/drawing/2014/main" id="{9FB87FC1-EEEB-4081-3E73-5DDFE6F8C81B}"/>
              </a:ext>
            </a:extLst>
          </p:cNvPr>
          <p:cNvSpPr>
            <a:spLocks noGrp="1"/>
          </p:cNvSpPr>
          <p:nvPr>
            <p:ph idx="1"/>
          </p:nvPr>
        </p:nvSpPr>
        <p:spPr>
          <a:xfrm>
            <a:off x="580448" y="941909"/>
            <a:ext cx="11147192" cy="5550945"/>
          </a:xfrm>
          <a:solidFill>
            <a:schemeClr val="accent1">
              <a:lumMod val="40000"/>
              <a:lumOff val="60000"/>
            </a:schemeClr>
          </a:solidFill>
        </p:spPr>
        <p:txBody>
          <a:bodyPr/>
          <a:lstStyle/>
          <a:p>
            <a:endParaRPr lang="en-US" altLang="zh-CN" sz="2400" dirty="0"/>
          </a:p>
          <a:p>
            <a:endParaRPr lang="zh-CN" altLang="en-US" sz="2400" dirty="0"/>
          </a:p>
        </p:txBody>
      </p:sp>
      <p:sp>
        <p:nvSpPr>
          <p:cNvPr id="7" name="文本框 6">
            <a:extLst>
              <a:ext uri="{FF2B5EF4-FFF2-40B4-BE49-F238E27FC236}">
                <a16:creationId xmlns:a16="http://schemas.microsoft.com/office/drawing/2014/main" id="{A6BE7D20-78B9-A297-FDB0-8CE861387248}"/>
              </a:ext>
            </a:extLst>
          </p:cNvPr>
          <p:cNvSpPr txBox="1"/>
          <p:nvPr/>
        </p:nvSpPr>
        <p:spPr>
          <a:xfrm>
            <a:off x="958849" y="1200150"/>
            <a:ext cx="9550401" cy="6501267"/>
          </a:xfrm>
          <a:prstGeom prst="rect">
            <a:avLst/>
          </a:prstGeom>
          <a:noFill/>
        </p:spPr>
        <p:txBody>
          <a:bodyPr wrap="square" rtlCol="0">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结论：</a:t>
            </a:r>
            <a:endParaRPr lang="en-US" altLang="zh-CN" sz="20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PER-D3QN</a:t>
            </a:r>
            <a:r>
              <a:rPr lang="zh-CN" altLang="en-US" sz="2000" b="1" dirty="0">
                <a:latin typeface="微软雅黑" panose="020B0503020204020204" pitchFamily="34" charset="-122"/>
                <a:ea typeface="微软雅黑" panose="020B0503020204020204" pitchFamily="34" charset="-122"/>
              </a:rPr>
              <a:t>在道路封锁阶段的适应性最好</a:t>
            </a:r>
            <a:r>
              <a:rPr lang="zh-CN" altLang="en-US" sz="2000" dirty="0">
                <a:latin typeface="微软雅黑" panose="020B0503020204020204" pitchFamily="34" charset="-122"/>
                <a:ea typeface="微软雅黑" panose="020B0503020204020204" pitchFamily="34" charset="-122"/>
              </a:rPr>
              <a:t>，但成本较高，</a:t>
            </a:r>
            <a:r>
              <a:rPr lang="en-US" altLang="zh-CN" sz="2000" b="1" dirty="0">
                <a:latin typeface="微软雅黑" panose="020B0503020204020204" pitchFamily="34" charset="-122"/>
                <a:ea typeface="微软雅黑" panose="020B0503020204020204" pitchFamily="34" charset="-122"/>
              </a:rPr>
              <a:t>DQN</a:t>
            </a:r>
            <a:r>
              <a:rPr lang="zh-CN" altLang="en-US" sz="2000" b="1" dirty="0">
                <a:latin typeface="微软雅黑" panose="020B0503020204020204" pitchFamily="34" charset="-122"/>
                <a:ea typeface="微软雅黑" panose="020B0503020204020204" pitchFamily="34" charset="-122"/>
              </a:rPr>
              <a:t>算法</a:t>
            </a:r>
            <a:r>
              <a:rPr lang="zh-CN" altLang="en-US" sz="2000" dirty="0">
                <a:latin typeface="微软雅黑" panose="020B0503020204020204" pitchFamily="34" charset="-122"/>
                <a:ea typeface="微软雅黑" panose="020B0503020204020204" pitchFamily="34" charset="-122"/>
              </a:rPr>
              <a:t>在训练过程中的稳定性较好，但</a:t>
            </a:r>
            <a:r>
              <a:rPr lang="zh-CN" altLang="en-US" sz="2000" b="1" dirty="0">
                <a:latin typeface="微软雅黑" panose="020B0503020204020204" pitchFamily="34" charset="-122"/>
                <a:ea typeface="微软雅黑" panose="020B0503020204020204" pitchFamily="34" charset="-122"/>
              </a:rPr>
              <a:t>测试的性能明显低</a:t>
            </a:r>
            <a:r>
              <a:rPr lang="zh-CN" altLang="en-US" sz="2000" dirty="0">
                <a:latin typeface="微软雅黑" panose="020B0503020204020204" pitchFamily="34" charset="-122"/>
                <a:ea typeface="微软雅黑" panose="020B0503020204020204" pitchFamily="34" charset="-122"/>
              </a:rPr>
              <a:t>于</a:t>
            </a:r>
            <a:r>
              <a:rPr lang="en-US" altLang="zh-CN" sz="2000" dirty="0">
                <a:latin typeface="微软雅黑" panose="020B0503020204020204" pitchFamily="34" charset="-122"/>
                <a:ea typeface="微软雅黑" panose="020B0503020204020204" pitchFamily="34" charset="-122"/>
              </a:rPr>
              <a:t>D3QN</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PER-D3QN</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在流量激增的情况下，</a:t>
            </a:r>
            <a:r>
              <a:rPr lang="en-US" altLang="zh-CN" sz="2000" dirty="0">
                <a:latin typeface="微软雅黑" panose="020B0503020204020204" pitchFamily="34" charset="-122"/>
                <a:ea typeface="微软雅黑" panose="020B0503020204020204" pitchFamily="34" charset="-122"/>
              </a:rPr>
              <a:t>DQN</a:t>
            </a:r>
            <a:r>
              <a:rPr lang="zh-CN" altLang="en-US" sz="2000" dirty="0">
                <a:latin typeface="微软雅黑" panose="020B0503020204020204" pitchFamily="34" charset="-122"/>
                <a:ea typeface="微软雅黑" panose="020B0503020204020204" pitchFamily="34" charset="-122"/>
              </a:rPr>
              <a:t>算法在训练过程中出现明显崩溃，</a:t>
            </a:r>
            <a:r>
              <a:rPr lang="en-US" altLang="zh-CN" sz="2000" b="1" dirty="0">
                <a:latin typeface="微软雅黑" panose="020B0503020204020204" pitchFamily="34" charset="-122"/>
                <a:ea typeface="微软雅黑" panose="020B0503020204020204" pitchFamily="34" charset="-122"/>
              </a:rPr>
              <a:t>PER-D3QN</a:t>
            </a:r>
            <a:r>
              <a:rPr lang="zh-CN" altLang="en-US" sz="2000" b="1" dirty="0">
                <a:latin typeface="微软雅黑" panose="020B0503020204020204" pitchFamily="34" charset="-122"/>
                <a:ea typeface="微软雅黑" panose="020B0503020204020204" pitchFamily="34" charset="-122"/>
              </a:rPr>
              <a:t>算法在突变发生后的早期阶段具有较好的适应能力，收敛较快，但在训练足够多的剧集后，</a:t>
            </a:r>
            <a:r>
              <a:rPr lang="en-US" altLang="zh-CN" sz="2000" b="1" dirty="0">
                <a:latin typeface="微软雅黑" panose="020B0503020204020204" pitchFamily="34" charset="-122"/>
                <a:ea typeface="微软雅黑" panose="020B0503020204020204" pitchFamily="34" charset="-122"/>
              </a:rPr>
              <a:t>D3QN</a:t>
            </a:r>
            <a:r>
              <a:rPr lang="zh-CN" altLang="en-US" sz="2000" b="1" dirty="0">
                <a:latin typeface="微软雅黑" panose="020B0503020204020204" pitchFamily="34" charset="-122"/>
                <a:ea typeface="微软雅黑" panose="020B0503020204020204" pitchFamily="34" charset="-122"/>
              </a:rPr>
              <a:t>的性能会变得更好</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在组合扰动状态下，</a:t>
            </a:r>
            <a:r>
              <a:rPr lang="zh-CN" altLang="en-US" sz="2000" b="1" dirty="0">
                <a:latin typeface="微软雅黑" panose="020B0503020204020204" pitchFamily="34" charset="-122"/>
                <a:ea typeface="微软雅黑" panose="020B0503020204020204" pitchFamily="34" charset="-122"/>
              </a:rPr>
              <a:t>与流量激增的情景类似</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PER-D3QN</a:t>
            </a:r>
            <a:r>
              <a:rPr lang="zh-CN" altLang="en-US" sz="2000" dirty="0">
                <a:latin typeface="微软雅黑" panose="020B0503020204020204" pitchFamily="34" charset="-122"/>
                <a:ea typeface="微软雅黑" panose="020B0503020204020204" pitchFamily="34" charset="-122"/>
              </a:rPr>
              <a:t>有更快的收敛速度，但性能不如</a:t>
            </a:r>
            <a:r>
              <a:rPr lang="en-US" altLang="zh-CN" sz="2000" dirty="0">
                <a:latin typeface="微软雅黑" panose="020B0503020204020204" pitchFamily="34" charset="-122"/>
                <a:ea typeface="微软雅黑" panose="020B0503020204020204" pitchFamily="34" charset="-122"/>
              </a:rPr>
              <a:t>D3QN</a:t>
            </a:r>
            <a:r>
              <a:rPr lang="zh-CN" altLang="en-US" sz="2000" dirty="0">
                <a:latin typeface="微软雅黑" panose="020B0503020204020204" pitchFamily="34" charset="-122"/>
                <a:ea typeface="微软雅黑" panose="020B0503020204020204" pitchFamily="34" charset="-122"/>
              </a:rPr>
              <a:t>算法稳定。</a:t>
            </a:r>
            <a:r>
              <a:rPr lang="zh-CN" altLang="en-US" sz="2000" b="1" dirty="0">
                <a:latin typeface="微软雅黑" panose="020B0503020204020204" pitchFamily="34" charset="-122"/>
                <a:ea typeface="微软雅黑" panose="020B0503020204020204" pitchFamily="34" charset="-122"/>
              </a:rPr>
              <a:t>在组合扰动的测试中，</a:t>
            </a:r>
            <a:r>
              <a:rPr lang="en-US" altLang="zh-CN" sz="2000" b="1" dirty="0">
                <a:latin typeface="微软雅黑" panose="020B0503020204020204" pitchFamily="34" charset="-122"/>
                <a:ea typeface="微软雅黑" panose="020B0503020204020204" pitchFamily="34" charset="-122"/>
              </a:rPr>
              <a:t>PER-D3QN</a:t>
            </a:r>
            <a:r>
              <a:rPr lang="zh-CN" altLang="en-US"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D3QN</a:t>
            </a:r>
            <a:r>
              <a:rPr lang="zh-CN" altLang="en-US" sz="2000" b="1" dirty="0">
                <a:latin typeface="微软雅黑" panose="020B0503020204020204" pitchFamily="34" charset="-122"/>
                <a:ea typeface="微软雅黑" panose="020B0503020204020204" pitchFamily="34" charset="-122"/>
              </a:rPr>
              <a:t>都表现出优于</a:t>
            </a:r>
            <a:r>
              <a:rPr lang="en-US" altLang="zh-CN" sz="2000" b="1" dirty="0">
                <a:latin typeface="微软雅黑" panose="020B0503020204020204" pitchFamily="34" charset="-122"/>
                <a:ea typeface="微软雅黑" panose="020B0503020204020204" pitchFamily="34" charset="-122"/>
              </a:rPr>
              <a:t>DQN</a:t>
            </a:r>
            <a:r>
              <a:rPr lang="zh-CN" altLang="en-US" sz="2000" b="1" dirty="0">
                <a:latin typeface="微软雅黑" panose="020B0503020204020204" pitchFamily="34" charset="-122"/>
                <a:ea typeface="微软雅黑" panose="020B0503020204020204" pitchFamily="34" charset="-122"/>
              </a:rPr>
              <a:t>的性能</a:t>
            </a:r>
            <a:r>
              <a:rPr lang="zh-CN" altLang="en-US" sz="2000" dirty="0">
                <a:latin typeface="微软雅黑" panose="020B0503020204020204" pitchFamily="34" charset="-122"/>
                <a:ea typeface="微软雅黑" panose="020B0503020204020204" pitchFamily="34" charset="-122"/>
              </a:rPr>
              <a:t>。由此，从性能角度上，</a:t>
            </a:r>
            <a:r>
              <a:rPr lang="en-US" altLang="zh-CN" sz="2000" dirty="0">
                <a:latin typeface="微软雅黑" panose="020B0503020204020204" pitchFamily="34" charset="-122"/>
                <a:ea typeface="微软雅黑" panose="020B0503020204020204" pitchFamily="34" charset="-122"/>
              </a:rPr>
              <a:t>D3QN</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PER-D3QN</a:t>
            </a:r>
            <a:r>
              <a:rPr lang="zh-CN" altLang="en-US" sz="2000" dirty="0">
                <a:latin typeface="微软雅黑" panose="020B0503020204020204" pitchFamily="34" charset="-122"/>
                <a:ea typeface="微软雅黑" panose="020B0503020204020204" pitchFamily="34" charset="-122"/>
              </a:rPr>
              <a:t>可以做为应对高流量施工道路的选择。</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82402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0036A-83A7-492E-0C13-325FCDC3A58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DB724B8-03BA-280D-B769-37930D52A171}"/>
              </a:ext>
            </a:extLst>
          </p:cNvPr>
          <p:cNvSpPr>
            <a:spLocks noGrp="1"/>
          </p:cNvSpPr>
          <p:nvPr>
            <p:ph type="title"/>
          </p:nvPr>
        </p:nvSpPr>
        <p:spPr>
          <a:xfrm>
            <a:off x="580448" y="168744"/>
            <a:ext cx="11147191" cy="604507"/>
          </a:xfrm>
          <a:solidFill>
            <a:schemeClr val="accent1">
              <a:lumMod val="75000"/>
            </a:schemeClr>
          </a:solidFill>
        </p:spPr>
        <p:txBody>
          <a:bodyPr>
            <a:noAutofit/>
          </a:bodyPr>
          <a:lstStyle/>
          <a:p>
            <a:r>
              <a:rPr lang="en-US" altLang="zh-CN" sz="3200" dirty="0">
                <a:solidFill>
                  <a:schemeClr val="bg1"/>
                </a:solidFill>
                <a:latin typeface="华文中宋" panose="02010600040101010101" pitchFamily="2" charset="-122"/>
                <a:ea typeface="华文中宋" panose="02010600040101010101" pitchFamily="2" charset="-122"/>
              </a:rPr>
              <a:t>5. </a:t>
            </a:r>
            <a:r>
              <a:rPr lang="zh-CN" altLang="en-US" sz="3200" dirty="0">
                <a:solidFill>
                  <a:schemeClr val="bg1"/>
                </a:solidFill>
                <a:latin typeface="华文中宋" panose="02010600040101010101" pitchFamily="2" charset="-122"/>
                <a:ea typeface="华文中宋" panose="02010600040101010101" pitchFamily="2" charset="-122"/>
              </a:rPr>
              <a:t>不足与未来改进</a:t>
            </a:r>
          </a:p>
        </p:txBody>
      </p:sp>
      <p:sp>
        <p:nvSpPr>
          <p:cNvPr id="3" name="内容占位符 2">
            <a:extLst>
              <a:ext uri="{FF2B5EF4-FFF2-40B4-BE49-F238E27FC236}">
                <a16:creationId xmlns:a16="http://schemas.microsoft.com/office/drawing/2014/main" id="{3BF455B7-DDEA-2A2F-8F36-01517D5239FE}"/>
              </a:ext>
            </a:extLst>
          </p:cNvPr>
          <p:cNvSpPr>
            <a:spLocks noGrp="1"/>
          </p:cNvSpPr>
          <p:nvPr>
            <p:ph idx="1"/>
          </p:nvPr>
        </p:nvSpPr>
        <p:spPr>
          <a:xfrm>
            <a:off x="580448" y="941909"/>
            <a:ext cx="11147192" cy="5550945"/>
          </a:xfrm>
          <a:solidFill>
            <a:schemeClr val="accent1">
              <a:lumMod val="40000"/>
              <a:lumOff val="60000"/>
            </a:schemeClr>
          </a:solidFill>
        </p:spPr>
        <p:txBody>
          <a:bodyPr/>
          <a:lstStyle/>
          <a:p>
            <a:endParaRPr lang="en-US" altLang="zh-CN" sz="2400" dirty="0"/>
          </a:p>
          <a:p>
            <a:endParaRPr lang="zh-CN" altLang="en-US" sz="2400" dirty="0"/>
          </a:p>
        </p:txBody>
      </p:sp>
      <p:sp>
        <p:nvSpPr>
          <p:cNvPr id="7" name="文本框 6">
            <a:extLst>
              <a:ext uri="{FF2B5EF4-FFF2-40B4-BE49-F238E27FC236}">
                <a16:creationId xmlns:a16="http://schemas.microsoft.com/office/drawing/2014/main" id="{F3A3CBCD-4768-5B14-7D39-626ADB37462D}"/>
              </a:ext>
            </a:extLst>
          </p:cNvPr>
          <p:cNvSpPr txBox="1"/>
          <p:nvPr/>
        </p:nvSpPr>
        <p:spPr>
          <a:xfrm>
            <a:off x="1971442" y="1175602"/>
            <a:ext cx="7522364" cy="7270708"/>
          </a:xfrm>
          <a:prstGeom prst="rect">
            <a:avLst/>
          </a:prstGeom>
          <a:noFill/>
        </p:spPr>
        <p:txBody>
          <a:bodyPr wrap="square" rtlCol="0">
            <a:spAutoFit/>
          </a:bodyPr>
          <a:lstStyle/>
          <a:p>
            <a:pPr marL="457200" indent="-457200">
              <a:lnSpc>
                <a:spcPct val="200000"/>
              </a:lnSpc>
              <a:buAutoNum type="arabicPeriod"/>
            </a:pPr>
            <a:r>
              <a:rPr lang="zh-CN" altLang="en-US" sz="2000" b="1" dirty="0">
                <a:latin typeface="微软雅黑" panose="020B0503020204020204" pitchFamily="34" charset="-122"/>
                <a:ea typeface="微软雅黑" panose="020B0503020204020204" pitchFamily="34" charset="-122"/>
                <a:sym typeface="Wingdings" panose="05000000000000000000" pitchFamily="2" charset="2"/>
              </a:rPr>
              <a:t>数据方面：本次研究所用的车流数据主要来自于流量生成器的生成，之后需要进一步实验，通过现实数据来验证算法适应性。</a:t>
            </a:r>
            <a:endParaRPr lang="en-US" altLang="zh-CN" sz="2000" b="1" dirty="0">
              <a:latin typeface="微软雅黑" panose="020B0503020204020204" pitchFamily="34" charset="-122"/>
              <a:ea typeface="微软雅黑" panose="020B0503020204020204" pitchFamily="34" charset="-122"/>
              <a:sym typeface="Wingdings" panose="05000000000000000000" pitchFamily="2" charset="2"/>
            </a:endParaRPr>
          </a:p>
          <a:p>
            <a:pPr marL="457200" indent="-457200">
              <a:lnSpc>
                <a:spcPct val="200000"/>
              </a:lnSpc>
              <a:buAutoNum type="arabicPeriod"/>
            </a:pPr>
            <a:r>
              <a:rPr lang="en-US" altLang="zh-CN" sz="2000" b="1" dirty="0">
                <a:latin typeface="微软雅黑" panose="020B0503020204020204" pitchFamily="34" charset="-122"/>
                <a:ea typeface="微软雅黑" panose="020B0503020204020204" pitchFamily="34" charset="-122"/>
                <a:sym typeface="Wingdings" panose="05000000000000000000" pitchFamily="2" charset="2"/>
              </a:rPr>
              <a:t>D3QN</a:t>
            </a:r>
            <a:r>
              <a:rPr lang="zh-CN" altLang="en-US" sz="2000" b="1" dirty="0">
                <a:latin typeface="微软雅黑" panose="020B0503020204020204" pitchFamily="34" charset="-122"/>
                <a:ea typeface="微软雅黑" panose="020B0503020204020204" pitchFamily="34" charset="-122"/>
                <a:sym typeface="Wingdings" panose="05000000000000000000" pitchFamily="2" charset="2"/>
              </a:rPr>
              <a:t>算法在面对流量激增突变时算法的不稳定性需要做进一步的优化和调整</a:t>
            </a:r>
            <a:endParaRPr lang="en-US" altLang="zh-CN" sz="2000" b="1" dirty="0">
              <a:latin typeface="微软雅黑" panose="020B0503020204020204" pitchFamily="34" charset="-122"/>
              <a:ea typeface="微软雅黑" panose="020B0503020204020204" pitchFamily="34" charset="-122"/>
              <a:sym typeface="Wingdings" panose="05000000000000000000" pitchFamily="2" charset="2"/>
            </a:endParaRPr>
          </a:p>
          <a:p>
            <a:pPr marL="457200" indent="-457200">
              <a:lnSpc>
                <a:spcPct val="200000"/>
              </a:lnSpc>
              <a:buAutoNum type="arabicPeriod"/>
            </a:pPr>
            <a:r>
              <a:rPr lang="zh-CN" altLang="en-US" sz="2000" b="1" dirty="0">
                <a:latin typeface="微软雅黑" panose="020B0503020204020204" pitchFamily="34" charset="-122"/>
                <a:ea typeface="微软雅黑" panose="020B0503020204020204" pitchFamily="34" charset="-122"/>
              </a:rPr>
              <a:t>研究研究了单车道封锁的情景，之后可以考虑多车道封锁施工的场景进行。</a:t>
            </a:r>
            <a:endParaRPr lang="en-US" altLang="zh-CN" sz="2000" b="1" dirty="0">
              <a:latin typeface="微软雅黑" panose="020B0503020204020204" pitchFamily="34" charset="-122"/>
              <a:ea typeface="微软雅黑" panose="020B0503020204020204" pitchFamily="34" charset="-122"/>
            </a:endParaRPr>
          </a:p>
          <a:p>
            <a:pPr marL="457200" indent="-457200">
              <a:lnSpc>
                <a:spcPct val="200000"/>
              </a:lnSpc>
              <a:buAutoNum type="arabicPeriod"/>
            </a:pPr>
            <a:r>
              <a:rPr lang="zh-CN" altLang="en-US" sz="2000" b="1" dirty="0">
                <a:latin typeface="微软雅黑" panose="020B0503020204020204" pitchFamily="34" charset="-122"/>
                <a:ea typeface="微软雅黑" panose="020B0503020204020204" pitchFamily="34" charset="-122"/>
              </a:rPr>
              <a:t>该研究研究了单个路口的场景，之后的进一步研究可以对多车道，突变带来的连锁效应进行研究。</a:t>
            </a: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25565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F26EDB-4BBD-B6BC-B596-1D305958542C}"/>
              </a:ext>
            </a:extLst>
          </p:cNvPr>
          <p:cNvSpPr>
            <a:spLocks noGrp="1"/>
          </p:cNvSpPr>
          <p:nvPr>
            <p:ph type="title"/>
          </p:nvPr>
        </p:nvSpPr>
        <p:spPr>
          <a:xfrm>
            <a:off x="782968" y="2103436"/>
            <a:ext cx="10515600" cy="2143307"/>
          </a:xfrm>
        </p:spPr>
        <p:txBody>
          <a:bodyPr>
            <a:normAutofit/>
          </a:bodyPr>
          <a:lstStyle/>
          <a:p>
            <a:pPr algn="ctr"/>
            <a:r>
              <a:rPr lang="zh-CN" altLang="en-US" sz="6000" b="1" dirty="0">
                <a:latin typeface="华文中宋" panose="02010600040101010101" pitchFamily="2" charset="-122"/>
                <a:ea typeface="华文中宋" panose="02010600040101010101" pitchFamily="2" charset="-122"/>
              </a:rPr>
              <a:t>感谢老师们这一个月的支持和帮助！！！</a:t>
            </a:r>
          </a:p>
        </p:txBody>
      </p:sp>
      <p:sp>
        <p:nvSpPr>
          <p:cNvPr id="4" name="副标题 2">
            <a:extLst>
              <a:ext uri="{FF2B5EF4-FFF2-40B4-BE49-F238E27FC236}">
                <a16:creationId xmlns:a16="http://schemas.microsoft.com/office/drawing/2014/main" id="{5C11EFC9-4A2E-3941-8190-638067C95A24}"/>
              </a:ext>
            </a:extLst>
          </p:cNvPr>
          <p:cNvSpPr txBox="1">
            <a:spLocks/>
          </p:cNvSpPr>
          <p:nvPr/>
        </p:nvSpPr>
        <p:spPr>
          <a:xfrm>
            <a:off x="2702287" y="4817147"/>
            <a:ext cx="9144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a:latin typeface="黑体" panose="02010609060101010101" pitchFamily="49" charset="-122"/>
                <a:ea typeface="黑体" panose="02010609060101010101" pitchFamily="49" charset="-122"/>
              </a:rPr>
              <a:t>汇报人：巨嘉誉  汇报日期：</a:t>
            </a:r>
            <a:r>
              <a:rPr lang="en-US" altLang="zh-CN" b="1">
                <a:latin typeface="黑体" panose="02010609060101010101" pitchFamily="49" charset="-122"/>
                <a:ea typeface="黑体" panose="02010609060101010101" pitchFamily="49" charset="-122"/>
              </a:rPr>
              <a:t>2025.8.29</a:t>
            </a:r>
            <a:endParaRPr lang="zh-CN" altLang="en-US"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95608111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TotalTime>
  <Words>1247</Words>
  <Application>Microsoft Office PowerPoint</Application>
  <PresentationFormat>宽屏</PresentationFormat>
  <Paragraphs>245</Paragraphs>
  <Slides>19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19</vt:i4>
      </vt:variant>
    </vt:vector>
  </HeadingPairs>
  <TitlesOfParts>
    <vt:vector size="29" baseType="lpstr">
      <vt:lpstr>等线</vt:lpstr>
      <vt:lpstr>等线 Light</vt:lpstr>
      <vt:lpstr>黑体</vt:lpstr>
      <vt:lpstr>华文中宋</vt:lpstr>
      <vt:lpstr>微软雅黑</vt:lpstr>
      <vt:lpstr>Arial</vt:lpstr>
      <vt:lpstr>Cambria</vt:lpstr>
      <vt:lpstr>Times New Roman</vt:lpstr>
      <vt:lpstr>Wingdings</vt:lpstr>
      <vt:lpstr>Office 主题​​</vt:lpstr>
      <vt:lpstr>DQN算法对交通状况突变的适应性对比分析</vt:lpstr>
      <vt:lpstr>CONTENTS</vt:lpstr>
      <vt:lpstr>1. 研究背景和基本介绍</vt:lpstr>
      <vt:lpstr>2. 研究方法论</vt:lpstr>
      <vt:lpstr>2. 研究方法论</vt:lpstr>
      <vt:lpstr>2. 研究方法论</vt:lpstr>
      <vt:lpstr>2. 研究方法论</vt:lpstr>
      <vt:lpstr>2. 研究方法论</vt:lpstr>
      <vt:lpstr>2. 研究方法论</vt:lpstr>
      <vt:lpstr>2. 研究方法论</vt:lpstr>
      <vt:lpstr>3. 实验设计</vt:lpstr>
      <vt:lpstr>3. 实验设计</vt:lpstr>
      <vt:lpstr>3. 实验设计</vt:lpstr>
      <vt:lpstr>4. 实验结果分析</vt:lpstr>
      <vt:lpstr>4. 实验结果分析</vt:lpstr>
      <vt:lpstr>4. 实验结果分析</vt:lpstr>
      <vt:lpstr>4. 实验结果分析</vt:lpstr>
      <vt:lpstr>5. 不足与未来改进</vt:lpstr>
      <vt:lpstr>感谢老师们这一个月的支持和帮助！！！</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Jiayu Ju</dc:creator>
  <cp:lastModifiedBy>Jiayu Ju</cp:lastModifiedBy>
  <cp:revision>7</cp:revision>
  <dcterms:created xsi:type="dcterms:W3CDTF">2025-08-29T04:30:46Z</dcterms:created>
  <dcterms:modified xsi:type="dcterms:W3CDTF">2025-08-29T11:45:38Z</dcterms:modified>
</cp:coreProperties>
</file>